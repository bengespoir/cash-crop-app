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7" d="100"/>
          <a:sy n="87" d="100"/>
        </p:scale>
        <p:origin x="624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C66726-98C2-4CD7-AB42-DE7FE6E13CD6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441A04-04E0-491E-B994-C321813B0E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85188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C66726-98C2-4CD7-AB42-DE7FE6E13CD6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441A04-04E0-491E-B994-C321813B0E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0644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C66726-98C2-4CD7-AB42-DE7FE6E13CD6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441A04-04E0-491E-B994-C321813B0E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5888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C66726-98C2-4CD7-AB42-DE7FE6E13CD6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441A04-04E0-491E-B994-C321813B0E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90014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C66726-98C2-4CD7-AB42-DE7FE6E13CD6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441A04-04E0-491E-B994-C321813B0E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30190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C66726-98C2-4CD7-AB42-DE7FE6E13CD6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441A04-04E0-491E-B994-C321813B0E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51485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C66726-98C2-4CD7-AB42-DE7FE6E13CD6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441A04-04E0-491E-B994-C321813B0E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21392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C66726-98C2-4CD7-AB42-DE7FE6E13CD6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441A04-04E0-491E-B994-C321813B0E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2705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C66726-98C2-4CD7-AB42-DE7FE6E13CD6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441A04-04E0-491E-B994-C321813B0E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01321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C66726-98C2-4CD7-AB42-DE7FE6E13CD6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441A04-04E0-491E-B994-C321813B0E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5253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C66726-98C2-4CD7-AB42-DE7FE6E13CD6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441A04-04E0-491E-B994-C321813B0E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37984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C66726-98C2-4CD7-AB42-DE7FE6E13CD6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441A04-04E0-491E-B994-C321813B0E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03255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228600"/>
          </a:xfrm>
          <a:prstGeom prst="rect">
            <a:avLst/>
          </a:prstGeom>
          <a:solidFill>
            <a:srgbClr val="0B3B2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0" y="228600"/>
            <a:ext cx="12192000" cy="6629400"/>
          </a:xfrm>
          <a:prstGeom prst="rect">
            <a:avLst/>
          </a:prstGeom>
          <a:solidFill>
            <a:srgbClr val="0B3B2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0" y="5257800"/>
            <a:ext cx="12192000" cy="1600200"/>
          </a:xfrm>
          <a:prstGeom prst="rect">
            <a:avLst/>
          </a:prstGeom>
          <a:solidFill>
            <a:srgbClr val="145D3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685800" y="889000"/>
            <a:ext cx="6350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300" b="1" smtClean="0">
                <a:solidFill>
                  <a:srgbClr val="D6AB27"/>
                </a:solidFill>
                <a:latin typeface="DM Sans"/>
              </a:rPr>
              <a:t>FINAL YEAR PROJECT PRESENTATION</a:t>
            </a:r>
            <a:endParaRPr lang="en-US" sz="1300" b="1">
              <a:solidFill>
                <a:srgbClr val="D6AB27"/>
              </a:solidFill>
              <a:latin typeface="DM San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85800" y="1333500"/>
            <a:ext cx="7112000" cy="52322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3400" b="1" smtClean="0">
                <a:solidFill>
                  <a:srgbClr val="FFFFFF"/>
                </a:solidFill>
                <a:latin typeface="DM Serif Display"/>
              </a:rPr>
              <a:t>AgriculNet</a:t>
            </a:r>
            <a:endParaRPr lang="en-US" sz="3400" b="1">
              <a:solidFill>
                <a:srgbClr val="FFFFFF"/>
              </a:solidFill>
              <a:latin typeface="DM Serif Display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85800" y="2413000"/>
            <a:ext cx="6350000" cy="83099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mtClean="0">
                <a:solidFill>
                  <a:srgbClr val="FFFFFF"/>
                </a:solidFill>
                <a:latin typeface="DM Sans"/>
              </a:rPr>
              <a:t>A digital platform connecting Cameroonian farmers, resellers, buyers, and administrators through verified sourcing, protected trade workflows, and export support.</a:t>
            </a:r>
            <a:endParaRPr lang="en-US">
              <a:solidFill>
                <a:srgbClr val="FFFFFF"/>
              </a:solidFill>
              <a:latin typeface="DM San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85800" y="5511800"/>
            <a:ext cx="6858000" cy="4924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600" smtClean="0">
                <a:solidFill>
                  <a:srgbClr val="FFFFFF"/>
                </a:solidFill>
                <a:latin typeface="DM Sans"/>
              </a:rPr>
              <a:t>Prepared for academic panel review | Cameroon-focused agricultural trade system</a:t>
            </a:r>
            <a:endParaRPr lang="en-US" sz="1600">
              <a:solidFill>
                <a:srgbClr val="FFFFFF"/>
              </a:solidFill>
              <a:latin typeface="DM San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85800" y="6019800"/>
            <a:ext cx="5461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300" smtClean="0">
                <a:solidFill>
                  <a:srgbClr val="FFFFFF"/>
                </a:solidFill>
                <a:latin typeface="DM Sans"/>
              </a:rPr>
              <a:t>Stack: Next.js, Express, Supabase, Railway, Vercel</a:t>
            </a:r>
            <a:endParaRPr lang="en-US" sz="1300">
              <a:solidFill>
                <a:srgbClr val="FFFFFF"/>
              </a:solidFill>
              <a:latin typeface="DM Sans"/>
            </a:endParaRPr>
          </a:p>
        </p:txBody>
      </p:sp>
      <p:pic>
        <p:nvPicPr>
          <p:cNvPr id="10" name="Picture 9"/>
          <p:cNvPicPr>
            <a:picLocks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47000" y="889000"/>
            <a:ext cx="3810000" cy="4953000"/>
          </a:xfrm>
          <a:prstGeom prst="rect">
            <a:avLst/>
          </a:prstGeom>
          <a:ln w="9525">
            <a:solidFill>
              <a:srgbClr val="E1E7EB"/>
            </a:solidFill>
          </a:ln>
        </p:spPr>
      </p:pic>
    </p:spTree>
    <p:extLst>
      <p:ext uri="{BB962C8B-B14F-4D97-AF65-F5344CB8AC3E}">
        <p14:creationId xmlns:p14="http://schemas.microsoft.com/office/powerpoint/2010/main" val="16112604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228600"/>
          </a:xfrm>
          <a:prstGeom prst="rect">
            <a:avLst/>
          </a:prstGeom>
          <a:solidFill>
            <a:srgbClr val="0B3B2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533400" y="355600"/>
            <a:ext cx="7620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200" b="1" smtClean="0">
                <a:solidFill>
                  <a:srgbClr val="145D37"/>
                </a:solidFill>
                <a:latin typeface="DM Sans"/>
              </a:rPr>
              <a:t>PROBLEM STATEMENT</a:t>
            </a:r>
            <a:endParaRPr lang="en-US" sz="1200" b="1">
              <a:solidFill>
                <a:srgbClr val="145D37"/>
              </a:solidFill>
              <a:latin typeface="DM San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33400" y="660400"/>
            <a:ext cx="10668000" cy="3847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500" b="1" smtClean="0">
                <a:solidFill>
                  <a:srgbClr val="1F2937"/>
                </a:solidFill>
                <a:latin typeface="DM Serif Display"/>
              </a:rPr>
              <a:t>Why AgriculNet matters</a:t>
            </a:r>
            <a:endParaRPr lang="en-US" sz="2500" b="1">
              <a:solidFill>
                <a:srgbClr val="1F2937"/>
              </a:solidFill>
              <a:latin typeface="DM Serif Display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33400" y="1498600"/>
            <a:ext cx="5334000" cy="381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E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711200" y="1651000"/>
            <a:ext cx="4978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b="1" smtClean="0">
                <a:solidFill>
                  <a:srgbClr val="1F2937"/>
                </a:solidFill>
                <a:latin typeface="DM Sans"/>
              </a:rPr>
              <a:t>Current trade pain points</a:t>
            </a:r>
            <a:endParaRPr lang="en-US" b="1">
              <a:solidFill>
                <a:srgbClr val="1F2937"/>
              </a:solidFill>
              <a:latin typeface="DM San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11200" y="2032000"/>
            <a:ext cx="4978400" cy="86177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400" smtClean="0">
                <a:solidFill>
                  <a:srgbClr val="6B7280"/>
                </a:solidFill>
                <a:latin typeface="DM Sans"/>
              </a:rPr>
              <a:t>Many Cameroonian farmers still depend on fragmented buyer networks, weak price visibility, informal payment practices, and poor access to export-ready workflows. These issues reduce trust, margin, and delivery confidence.</a:t>
            </a:r>
            <a:endParaRPr lang="en-US" sz="1400">
              <a:solidFill>
                <a:srgbClr val="6B7280"/>
              </a:solidFill>
              <a:latin typeface="DM San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350000" y="1600200"/>
            <a:ext cx="4826000" cy="261610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1700" smtClean="0">
                <a:solidFill>
                  <a:srgbClr val="1F2937"/>
                </a:solidFill>
                <a:latin typeface="DM Sans"/>
              </a:rPr>
              <a:t>â€¢ No reliable digital marketplace tied to real farmer verification</a:t>
            </a:r>
          </a:p>
          <a:p>
            <a:r>
              <a:rPr lang="en-US" sz="1700" smtClean="0">
                <a:solidFill>
                  <a:srgbClr val="1F2937"/>
                </a:solidFill>
                <a:latin typeface="DM Sans"/>
              </a:rPr>
              <a:t>â€¢ Limited coordination for documentation, inspection, and export readiness</a:t>
            </a:r>
          </a:p>
          <a:p>
            <a:r>
              <a:rPr lang="en-US" sz="1700" smtClean="0">
                <a:solidFill>
                  <a:srgbClr val="1F2937"/>
                </a:solidFill>
                <a:latin typeface="DM Sans"/>
              </a:rPr>
              <a:t>â€¢ Payment uncertainty between buyer and seller</a:t>
            </a:r>
          </a:p>
          <a:p>
            <a:r>
              <a:rPr lang="en-US" sz="1700" smtClean="0">
                <a:solidFill>
                  <a:srgbClr val="1F2937"/>
                </a:solidFill>
                <a:latin typeface="DM Sans"/>
              </a:rPr>
              <a:t>â€¢ Weak visibility for verified farmers and cooperatives</a:t>
            </a:r>
          </a:p>
          <a:p>
            <a:r>
              <a:rPr lang="en-US" sz="1700" smtClean="0">
                <a:solidFill>
                  <a:srgbClr val="1F2937"/>
                </a:solidFill>
                <a:latin typeface="DM Sans"/>
              </a:rPr>
              <a:t>â€¢ Few digital tools adapted to local agricultural trade realities</a:t>
            </a:r>
            <a:endParaRPr lang="en-US" sz="1700">
              <a:solidFill>
                <a:srgbClr val="1F2937"/>
              </a:solidFill>
              <a:latin typeface="DM San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6350000" y="4572000"/>
            <a:ext cx="4826000" cy="1397000"/>
          </a:xfrm>
          <a:prstGeom prst="rect">
            <a:avLst/>
          </a:prstGeom>
          <a:solidFill>
            <a:srgbClr val="FAF1CF"/>
          </a:solidFill>
          <a:ln w="12700">
            <a:solidFill>
              <a:srgbClr val="D6AB2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6527800" y="4724400"/>
            <a:ext cx="4470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b="1" smtClean="0">
                <a:solidFill>
                  <a:srgbClr val="1F2937"/>
                </a:solidFill>
                <a:latin typeface="DM Sans"/>
              </a:rPr>
              <a:t>Academic framing</a:t>
            </a:r>
            <a:endParaRPr lang="en-US" b="1">
              <a:solidFill>
                <a:srgbClr val="1F2937"/>
              </a:solidFill>
              <a:latin typeface="DM San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527800" y="5105400"/>
            <a:ext cx="4470400" cy="86177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400" smtClean="0">
                <a:solidFill>
                  <a:srgbClr val="6B7280"/>
                </a:solidFill>
                <a:latin typeface="DM Sans"/>
              </a:rPr>
              <a:t>The project addresses a real business and logistics problem with a software system that combines marketplace access, verification, communication, and protected trade operations.</a:t>
            </a:r>
            <a:endParaRPr lang="en-US" sz="1400">
              <a:solidFill>
                <a:srgbClr val="6B7280"/>
              </a:solidFill>
              <a:latin typeface="DM San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33400" y="6502400"/>
            <a:ext cx="8890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00" smtClean="0">
                <a:solidFill>
                  <a:srgbClr val="6B7280"/>
                </a:solidFill>
                <a:latin typeface="DM Sans"/>
              </a:rPr>
              <a:t>AgriculNet | Academic Presentation | 2026</a:t>
            </a:r>
            <a:endParaRPr lang="en-US" sz="900">
              <a:solidFill>
                <a:srgbClr val="6B7280"/>
              </a:solidFill>
              <a:latin typeface="DM San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1303000" y="6477000"/>
            <a:ext cx="381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sz="1000" smtClean="0">
                <a:solidFill>
                  <a:srgbClr val="6B7280"/>
                </a:solidFill>
                <a:latin typeface="DM Sans"/>
              </a:rPr>
              <a:t>2</a:t>
            </a:r>
            <a:endParaRPr lang="en-US" sz="1000">
              <a:solidFill>
                <a:srgbClr val="6B7280"/>
              </a:solidFill>
              <a:latin typeface="DM Sans"/>
            </a:endParaRPr>
          </a:p>
        </p:txBody>
      </p:sp>
    </p:spTree>
    <p:extLst>
      <p:ext uri="{BB962C8B-B14F-4D97-AF65-F5344CB8AC3E}">
        <p14:creationId xmlns:p14="http://schemas.microsoft.com/office/powerpoint/2010/main" val="2067347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228600"/>
          </a:xfrm>
          <a:prstGeom prst="rect">
            <a:avLst/>
          </a:prstGeom>
          <a:solidFill>
            <a:srgbClr val="0B3B2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533400" y="355600"/>
            <a:ext cx="7620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200" b="1" smtClean="0">
                <a:solidFill>
                  <a:srgbClr val="145D37"/>
                </a:solidFill>
                <a:latin typeface="DM Sans"/>
              </a:rPr>
              <a:t>OBJECTIVES</a:t>
            </a:r>
            <a:endParaRPr lang="en-US" sz="1200" b="1">
              <a:solidFill>
                <a:srgbClr val="145D37"/>
              </a:solidFill>
              <a:latin typeface="DM San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33400" y="660400"/>
            <a:ext cx="10668000" cy="3847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500" b="1" smtClean="0">
                <a:solidFill>
                  <a:srgbClr val="1F2937"/>
                </a:solidFill>
                <a:latin typeface="DM Serif Display"/>
              </a:rPr>
              <a:t>What the system was designed to achieve</a:t>
            </a:r>
            <a:endParaRPr lang="en-US" sz="2500" b="1">
              <a:solidFill>
                <a:srgbClr val="1F2937"/>
              </a:solidFill>
              <a:latin typeface="DM Serif Display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35000" y="1549400"/>
            <a:ext cx="4953000" cy="287771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1700" smtClean="0">
                <a:solidFill>
                  <a:srgbClr val="1F2937"/>
                </a:solidFill>
                <a:latin typeface="DM Sans"/>
              </a:rPr>
              <a:t>â€¢ Digitize crop sourcing between farmers, resellers, and buyers</a:t>
            </a:r>
          </a:p>
          <a:p>
            <a:r>
              <a:rPr lang="en-US" sz="1700" smtClean="0">
                <a:solidFill>
                  <a:srgbClr val="1F2937"/>
                </a:solidFill>
                <a:latin typeface="DM Sans"/>
              </a:rPr>
              <a:t>â€¢ Provide verified farmer and listing visibility</a:t>
            </a:r>
          </a:p>
          <a:p>
            <a:r>
              <a:rPr lang="en-US" sz="1700" smtClean="0">
                <a:solidFill>
                  <a:srgbClr val="1F2937"/>
                </a:solidFill>
                <a:latin typeface="DM Sans"/>
              </a:rPr>
              <a:t>â€¢ Support buyer protection and controlled payment release</a:t>
            </a:r>
          </a:p>
          <a:p>
            <a:r>
              <a:rPr lang="en-US" sz="1700" smtClean="0">
                <a:solidFill>
                  <a:srgbClr val="1F2937"/>
                </a:solidFill>
                <a:latin typeface="DM Sans"/>
              </a:rPr>
              <a:t>â€¢ Create a structured communication path for quotes, orders, and support</a:t>
            </a:r>
          </a:p>
          <a:p>
            <a:r>
              <a:rPr lang="en-US" sz="1700" smtClean="0">
                <a:solidFill>
                  <a:srgbClr val="1F2937"/>
                </a:solidFill>
                <a:latin typeface="DM Sans"/>
              </a:rPr>
              <a:t>â€¢ Enable international export workflows and compliance-aware sourcing</a:t>
            </a:r>
          </a:p>
          <a:p>
            <a:r>
              <a:rPr lang="en-US" sz="1700" smtClean="0">
                <a:solidFill>
                  <a:srgbClr val="1F2937"/>
                </a:solidFill>
                <a:latin typeface="DM Sans"/>
              </a:rPr>
              <a:t>â€¢ Give administrators operational oversight over users, listings, orders, disputes, and payments</a:t>
            </a:r>
            <a:endParaRPr lang="en-US" sz="1700">
              <a:solidFill>
                <a:srgbClr val="1F2937"/>
              </a:solidFill>
              <a:latin typeface="DM San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6223000" y="1549400"/>
            <a:ext cx="4572000" cy="1625600"/>
          </a:xfrm>
          <a:prstGeom prst="rect">
            <a:avLst/>
          </a:prstGeom>
          <a:solidFill>
            <a:srgbClr val="ECF6F0"/>
          </a:solidFill>
          <a:ln w="12700">
            <a:solidFill>
              <a:srgbClr val="145D3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6400800" y="1701800"/>
            <a:ext cx="4216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b="1" smtClean="0">
                <a:solidFill>
                  <a:srgbClr val="1F2937"/>
                </a:solidFill>
                <a:latin typeface="DM Sans"/>
              </a:rPr>
              <a:t>Primary users</a:t>
            </a:r>
            <a:endParaRPr lang="en-US" b="1">
              <a:solidFill>
                <a:srgbClr val="1F2937"/>
              </a:solidFill>
              <a:latin typeface="DM San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400800" y="2082800"/>
            <a:ext cx="4216400" cy="64633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400" smtClean="0">
                <a:solidFill>
                  <a:srgbClr val="6B7280"/>
                </a:solidFill>
                <a:latin typeface="DM Sans"/>
              </a:rPr>
              <a:t>Farmers, resellers, buyers, and admins all operate on the same platform with role-specific dashboards and permissions.</a:t>
            </a:r>
            <a:endParaRPr lang="en-US" sz="1400">
              <a:solidFill>
                <a:srgbClr val="6B7280"/>
              </a:solidFill>
              <a:latin typeface="DM San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6223000" y="3403600"/>
            <a:ext cx="4572000" cy="203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E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6400800" y="3556000"/>
            <a:ext cx="4216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b="1" smtClean="0">
                <a:solidFill>
                  <a:srgbClr val="1F2937"/>
                </a:solidFill>
                <a:latin typeface="DM Sans"/>
              </a:rPr>
              <a:t>Expected outcomes</a:t>
            </a:r>
            <a:endParaRPr lang="en-US" b="1">
              <a:solidFill>
                <a:srgbClr val="1F2937"/>
              </a:solidFill>
              <a:latin typeface="DM San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400800" y="3937000"/>
            <a:ext cx="4216400" cy="86177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400" smtClean="0">
                <a:solidFill>
                  <a:srgbClr val="6B7280"/>
                </a:solidFill>
                <a:latin typeface="DM Sans"/>
              </a:rPr>
              <a:t>Higher trade trust, better sourcing visibility, clearer operational workflows, and a platform that reflects Cameroonian agricultural realities rather than generic marketplace assumptions.</a:t>
            </a:r>
            <a:endParaRPr lang="en-US" sz="1400">
              <a:solidFill>
                <a:srgbClr val="6B7280"/>
              </a:solidFill>
              <a:latin typeface="DM San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33400" y="6502400"/>
            <a:ext cx="8890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00" smtClean="0">
                <a:solidFill>
                  <a:srgbClr val="6B7280"/>
                </a:solidFill>
                <a:latin typeface="DM Sans"/>
              </a:rPr>
              <a:t>AgriculNet | Academic Presentation | 2026</a:t>
            </a:r>
            <a:endParaRPr lang="en-US" sz="900">
              <a:solidFill>
                <a:srgbClr val="6B7280"/>
              </a:solidFill>
              <a:latin typeface="DM San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1303000" y="6477000"/>
            <a:ext cx="381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sz="1000" smtClean="0">
                <a:solidFill>
                  <a:srgbClr val="6B7280"/>
                </a:solidFill>
                <a:latin typeface="DM Sans"/>
              </a:rPr>
              <a:t>3</a:t>
            </a:r>
            <a:endParaRPr lang="en-US" sz="1000">
              <a:solidFill>
                <a:srgbClr val="6B7280"/>
              </a:solidFill>
              <a:latin typeface="DM Sans"/>
            </a:endParaRPr>
          </a:p>
        </p:txBody>
      </p:sp>
    </p:spTree>
    <p:extLst>
      <p:ext uri="{BB962C8B-B14F-4D97-AF65-F5344CB8AC3E}">
        <p14:creationId xmlns:p14="http://schemas.microsoft.com/office/powerpoint/2010/main" val="15561233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228600"/>
          </a:xfrm>
          <a:prstGeom prst="rect">
            <a:avLst/>
          </a:prstGeom>
          <a:solidFill>
            <a:srgbClr val="0B3B2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533400" y="355600"/>
            <a:ext cx="7620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200" b="1" smtClean="0">
                <a:solidFill>
                  <a:srgbClr val="145D37"/>
                </a:solidFill>
                <a:latin typeface="DM Sans"/>
              </a:rPr>
              <a:t>USERS AND SCOPE</a:t>
            </a:r>
            <a:endParaRPr lang="en-US" sz="1200" b="1">
              <a:solidFill>
                <a:srgbClr val="145D37"/>
              </a:solidFill>
              <a:latin typeface="DM San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33400" y="660400"/>
            <a:ext cx="10668000" cy="3847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500" b="1" smtClean="0">
                <a:solidFill>
                  <a:srgbClr val="1F2937"/>
                </a:solidFill>
                <a:latin typeface="DM Serif Display"/>
              </a:rPr>
              <a:t>Who uses AgriculNet and what each role does</a:t>
            </a:r>
            <a:endParaRPr lang="en-US" sz="2500" b="1">
              <a:solidFill>
                <a:srgbClr val="1F2937"/>
              </a:solidFill>
              <a:latin typeface="DM Serif Display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33400" y="1549400"/>
            <a:ext cx="2603500" cy="3175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E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711200" y="1701800"/>
            <a:ext cx="22479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b="1" smtClean="0">
                <a:solidFill>
                  <a:srgbClr val="1F2937"/>
                </a:solidFill>
                <a:latin typeface="DM Sans"/>
              </a:rPr>
              <a:t>Farmers</a:t>
            </a:r>
            <a:endParaRPr lang="en-US" b="1">
              <a:solidFill>
                <a:srgbClr val="1F2937"/>
              </a:solidFill>
              <a:latin typeface="DM San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11200" y="2082800"/>
            <a:ext cx="2247900" cy="129266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400" smtClean="0">
                <a:solidFill>
                  <a:srgbClr val="6B7280"/>
                </a:solidFill>
                <a:latin typeface="DM Sans"/>
              </a:rPr>
              <a:t>Create and manage listings, complete identity verification, respond to inquiries, track orders, and receive controlled payout visibility.</a:t>
            </a:r>
            <a:endParaRPr lang="en-US" sz="1400">
              <a:solidFill>
                <a:srgbClr val="6B7280"/>
              </a:solidFill>
              <a:latin typeface="DM San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3365500" y="1549400"/>
            <a:ext cx="2603500" cy="3175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E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3543300" y="1701800"/>
            <a:ext cx="22479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b="1" smtClean="0">
                <a:solidFill>
                  <a:srgbClr val="1F2937"/>
                </a:solidFill>
                <a:latin typeface="DM Sans"/>
              </a:rPr>
              <a:t>Resellers</a:t>
            </a:r>
            <a:endParaRPr lang="en-US" b="1">
              <a:solidFill>
                <a:srgbClr val="1F2937"/>
              </a:solidFill>
              <a:latin typeface="DM San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543300" y="2082800"/>
            <a:ext cx="2247900" cy="129266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400" smtClean="0">
                <a:solidFill>
                  <a:srgbClr val="6B7280"/>
                </a:solidFill>
                <a:latin typeface="DM Sans"/>
              </a:rPr>
              <a:t>Source and resell crop supply, publish trade-ready inventory, coordinate with buyers, and operate like sellers within marketplace controls.</a:t>
            </a:r>
            <a:endParaRPr lang="en-US" sz="1400">
              <a:solidFill>
                <a:srgbClr val="6B7280"/>
              </a:solidFill>
              <a:latin typeface="DM Sans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6197600" y="1549400"/>
            <a:ext cx="2603500" cy="3175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E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6375400" y="1701800"/>
            <a:ext cx="22479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b="1" smtClean="0">
                <a:solidFill>
                  <a:srgbClr val="1F2937"/>
                </a:solidFill>
                <a:latin typeface="DM Sans"/>
              </a:rPr>
              <a:t>Buyers</a:t>
            </a:r>
            <a:endParaRPr lang="en-US" b="1">
              <a:solidFill>
                <a:srgbClr val="1F2937"/>
              </a:solidFill>
              <a:latin typeface="DM San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375400" y="2082800"/>
            <a:ext cx="2247900" cy="107721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400" smtClean="0">
                <a:solidFill>
                  <a:srgbClr val="6B7280"/>
                </a:solidFill>
                <a:latin typeface="DM Sans"/>
              </a:rPr>
              <a:t>Browse crops, find farmers, save listings, place orders, communicate with sellers, manage support issues, and initiate payment.</a:t>
            </a:r>
            <a:endParaRPr lang="en-US" sz="1400">
              <a:solidFill>
                <a:srgbClr val="6B7280"/>
              </a:solidFill>
              <a:latin typeface="DM Sans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9029700" y="1549400"/>
            <a:ext cx="2603500" cy="3175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E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/>
          <p:cNvSpPr txBox="1"/>
          <p:nvPr/>
        </p:nvSpPr>
        <p:spPr>
          <a:xfrm>
            <a:off x="9207500" y="1701800"/>
            <a:ext cx="22479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b="1" smtClean="0">
                <a:solidFill>
                  <a:srgbClr val="1F2937"/>
                </a:solidFill>
                <a:latin typeface="DM Sans"/>
              </a:rPr>
              <a:t>Admins</a:t>
            </a:r>
            <a:endParaRPr lang="en-US" b="1">
              <a:solidFill>
                <a:srgbClr val="1F2937"/>
              </a:solidFill>
              <a:latin typeface="DM San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9207500" y="2082800"/>
            <a:ext cx="2247900" cy="129266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400" smtClean="0">
                <a:solidFill>
                  <a:srgbClr val="6B7280"/>
                </a:solidFill>
                <a:latin typeface="DM Sans"/>
              </a:rPr>
              <a:t>Review users and verification submissions, oversee listings and operations, monitor payments, and resolve disputes or inspections.</a:t>
            </a:r>
            <a:endParaRPr lang="en-US" sz="1400">
              <a:solidFill>
                <a:srgbClr val="6B7280"/>
              </a:solidFill>
              <a:latin typeface="DM Sans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533400" y="5029200"/>
            <a:ext cx="11099800" cy="939800"/>
          </a:xfrm>
          <a:prstGeom prst="rect">
            <a:avLst/>
          </a:prstGeom>
          <a:solidFill>
            <a:srgbClr val="FAF1CF"/>
          </a:solidFill>
          <a:ln w="12700">
            <a:solidFill>
              <a:srgbClr val="D6AB2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/>
          <p:cNvSpPr txBox="1"/>
          <p:nvPr/>
        </p:nvSpPr>
        <p:spPr>
          <a:xfrm>
            <a:off x="711200" y="5181600"/>
            <a:ext cx="107442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b="1" smtClean="0">
                <a:solidFill>
                  <a:srgbClr val="1F2937"/>
                </a:solidFill>
                <a:latin typeface="DM Sans"/>
              </a:rPr>
              <a:t>Scope boundary</a:t>
            </a:r>
            <a:endParaRPr lang="en-US" b="1">
              <a:solidFill>
                <a:srgbClr val="1F2937"/>
              </a:solidFill>
              <a:latin typeface="DM Sans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711200" y="5562600"/>
            <a:ext cx="107442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400" smtClean="0">
                <a:solidFill>
                  <a:srgbClr val="6B7280"/>
                </a:solidFill>
                <a:latin typeface="DM Sans"/>
              </a:rPr>
              <a:t>AgriculNet is not just a public catalogue. It combines public discovery pages with authenticated operational dashboards, internal order/payment records, and verification governance.</a:t>
            </a:r>
            <a:endParaRPr lang="en-US" sz="1400">
              <a:solidFill>
                <a:srgbClr val="6B7280"/>
              </a:solidFill>
              <a:latin typeface="DM Sans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33400" y="6502400"/>
            <a:ext cx="8890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00" smtClean="0">
                <a:solidFill>
                  <a:srgbClr val="6B7280"/>
                </a:solidFill>
                <a:latin typeface="DM Sans"/>
              </a:rPr>
              <a:t>AgriculNet | Academic Presentation | 2026</a:t>
            </a:r>
            <a:endParaRPr lang="en-US" sz="900">
              <a:solidFill>
                <a:srgbClr val="6B7280"/>
              </a:solidFill>
              <a:latin typeface="DM Sans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1303000" y="6477000"/>
            <a:ext cx="381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sz="1000" smtClean="0">
                <a:solidFill>
                  <a:srgbClr val="6B7280"/>
                </a:solidFill>
                <a:latin typeface="DM Sans"/>
              </a:rPr>
              <a:t>4</a:t>
            </a:r>
            <a:endParaRPr lang="en-US" sz="1000">
              <a:solidFill>
                <a:srgbClr val="6B7280"/>
              </a:solidFill>
              <a:latin typeface="DM Sans"/>
            </a:endParaRPr>
          </a:p>
        </p:txBody>
      </p:sp>
    </p:spTree>
    <p:extLst>
      <p:ext uri="{BB962C8B-B14F-4D97-AF65-F5344CB8AC3E}">
        <p14:creationId xmlns:p14="http://schemas.microsoft.com/office/powerpoint/2010/main" val="20351164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228600"/>
          </a:xfrm>
          <a:prstGeom prst="rect">
            <a:avLst/>
          </a:prstGeom>
          <a:solidFill>
            <a:srgbClr val="0B3B2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533400" y="355600"/>
            <a:ext cx="7620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200" b="1" smtClean="0">
                <a:solidFill>
                  <a:srgbClr val="145D37"/>
                </a:solidFill>
                <a:latin typeface="DM Sans"/>
              </a:rPr>
              <a:t>SYSTEM OVERVIEW</a:t>
            </a:r>
            <a:endParaRPr lang="en-US" sz="1200" b="1">
              <a:solidFill>
                <a:srgbClr val="145D37"/>
              </a:solidFill>
              <a:latin typeface="DM San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33400" y="660400"/>
            <a:ext cx="10668000" cy="3847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500" b="1" smtClean="0">
                <a:solidFill>
                  <a:srgbClr val="1F2937"/>
                </a:solidFill>
                <a:latin typeface="DM Serif Display"/>
              </a:rPr>
              <a:t>Core platform features</a:t>
            </a:r>
            <a:endParaRPr lang="en-US" sz="2500" b="1">
              <a:solidFill>
                <a:srgbClr val="1F2937"/>
              </a:solidFill>
              <a:latin typeface="DM Serif Display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33400" y="1498600"/>
            <a:ext cx="3429000" cy="1524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E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711200" y="1651000"/>
            <a:ext cx="3073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b="1" smtClean="0">
                <a:solidFill>
                  <a:srgbClr val="1F2937"/>
                </a:solidFill>
                <a:latin typeface="DM Sans"/>
              </a:rPr>
              <a:t>Marketplace discovery</a:t>
            </a:r>
            <a:endParaRPr lang="en-US" b="1">
              <a:solidFill>
                <a:srgbClr val="1F2937"/>
              </a:solidFill>
              <a:latin typeface="DM San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11200" y="2032000"/>
            <a:ext cx="3073400" cy="64633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400" smtClean="0">
                <a:solidFill>
                  <a:srgbClr val="6B7280"/>
                </a:solidFill>
                <a:latin typeface="DM Sans"/>
              </a:rPr>
              <a:t>Browse crops, find verified farmers, inspect listing detail, and search international export-ready supply.</a:t>
            </a:r>
            <a:endParaRPr lang="en-US" sz="1400">
              <a:solidFill>
                <a:srgbClr val="6B7280"/>
              </a:solidFill>
              <a:latin typeface="DM San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191000" y="1498600"/>
            <a:ext cx="3429000" cy="1524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E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4368800" y="1651000"/>
            <a:ext cx="3073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b="1" smtClean="0">
                <a:solidFill>
                  <a:srgbClr val="1F2937"/>
                </a:solidFill>
                <a:latin typeface="DM Sans"/>
              </a:rPr>
              <a:t>Role-based dashboards</a:t>
            </a:r>
            <a:endParaRPr lang="en-US" b="1">
              <a:solidFill>
                <a:srgbClr val="1F2937"/>
              </a:solidFill>
              <a:latin typeface="DM San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368800" y="2032000"/>
            <a:ext cx="3073400" cy="64633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400" smtClean="0">
                <a:solidFill>
                  <a:srgbClr val="6B7280"/>
                </a:solidFill>
                <a:latin typeface="DM Sans"/>
              </a:rPr>
              <a:t>Buyer, farmer, reseller, and admin workspaces present different controls, metrics, and operational flows.</a:t>
            </a:r>
            <a:endParaRPr lang="en-US" sz="1400">
              <a:solidFill>
                <a:srgbClr val="6B7280"/>
              </a:solidFill>
              <a:latin typeface="DM Sans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7848600" y="1498600"/>
            <a:ext cx="3429000" cy="1524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E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026400" y="1651000"/>
            <a:ext cx="3073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b="1" smtClean="0">
                <a:solidFill>
                  <a:srgbClr val="1F2937"/>
                </a:solidFill>
                <a:latin typeface="DM Sans"/>
              </a:rPr>
              <a:t>Protected operations</a:t>
            </a:r>
            <a:endParaRPr lang="en-US" b="1">
              <a:solidFill>
                <a:srgbClr val="1F2937"/>
              </a:solidFill>
              <a:latin typeface="DM San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026400" y="2032000"/>
            <a:ext cx="3073400" cy="86177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400" smtClean="0">
                <a:solidFill>
                  <a:srgbClr val="6B7280"/>
                </a:solidFill>
                <a:latin typeface="DM Sans"/>
              </a:rPr>
              <a:t>Orders, payments, support requests, verification review, and admin oversight are all tracked through backend workflows.</a:t>
            </a:r>
            <a:endParaRPr lang="en-US" sz="1400">
              <a:solidFill>
                <a:srgbClr val="6B7280"/>
              </a:solidFill>
              <a:latin typeface="DM Sans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533400" y="3302000"/>
            <a:ext cx="3429000" cy="177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E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/>
          <p:cNvSpPr txBox="1"/>
          <p:nvPr/>
        </p:nvSpPr>
        <p:spPr>
          <a:xfrm>
            <a:off x="711200" y="3454400"/>
            <a:ext cx="3073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b="1" smtClean="0">
                <a:solidFill>
                  <a:srgbClr val="1F2937"/>
                </a:solidFill>
                <a:latin typeface="DM Sans"/>
              </a:rPr>
              <a:t>Communication layer</a:t>
            </a:r>
            <a:endParaRPr lang="en-US" b="1">
              <a:solidFill>
                <a:srgbClr val="1F2937"/>
              </a:solidFill>
              <a:latin typeface="DM San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11200" y="3835400"/>
            <a:ext cx="3073400" cy="64633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400" smtClean="0">
                <a:solidFill>
                  <a:srgbClr val="6B7280"/>
                </a:solidFill>
                <a:latin typeface="DM Sans"/>
              </a:rPr>
              <a:t>Inquiries, messages, support tickets, and order-related conversation flows reduce transaction friction.</a:t>
            </a:r>
            <a:endParaRPr lang="en-US" sz="1400">
              <a:solidFill>
                <a:srgbClr val="6B7280"/>
              </a:solidFill>
              <a:latin typeface="DM Sans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4191000" y="3302000"/>
            <a:ext cx="3429000" cy="177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E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/>
          <p:cNvSpPr txBox="1"/>
          <p:nvPr/>
        </p:nvSpPr>
        <p:spPr>
          <a:xfrm>
            <a:off x="4368800" y="3454400"/>
            <a:ext cx="3073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b="1" smtClean="0">
                <a:solidFill>
                  <a:srgbClr val="1F2937"/>
                </a:solidFill>
                <a:latin typeface="DM Sans"/>
              </a:rPr>
              <a:t>Export readiness</a:t>
            </a:r>
            <a:endParaRPr lang="en-US" b="1">
              <a:solidFill>
                <a:srgbClr val="1F2937"/>
              </a:solidFill>
              <a:latin typeface="DM Sans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4368800" y="3835400"/>
            <a:ext cx="3073400" cy="86177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400" smtClean="0">
                <a:solidFill>
                  <a:srgbClr val="6B7280"/>
                </a:solidFill>
                <a:latin typeface="DM Sans"/>
              </a:rPr>
              <a:t>Public pages explain international sourcing, documentation, and ONCC / MINADER-aligned compliance expectations.</a:t>
            </a:r>
            <a:endParaRPr lang="en-US" sz="1400">
              <a:solidFill>
                <a:srgbClr val="6B7280"/>
              </a:solidFill>
              <a:latin typeface="DM Sans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7848600" y="3302000"/>
            <a:ext cx="3429000" cy="177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E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/>
          <p:cNvSpPr txBox="1"/>
          <p:nvPr/>
        </p:nvSpPr>
        <p:spPr>
          <a:xfrm>
            <a:off x="8026400" y="3454400"/>
            <a:ext cx="3073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b="1" smtClean="0">
                <a:solidFill>
                  <a:srgbClr val="1F2937"/>
                </a:solidFill>
                <a:latin typeface="DM Sans"/>
              </a:rPr>
              <a:t>Deployment</a:t>
            </a:r>
            <a:endParaRPr lang="en-US" b="1">
              <a:solidFill>
                <a:srgbClr val="1F2937"/>
              </a:solidFill>
              <a:latin typeface="DM Sans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8026400" y="3835400"/>
            <a:ext cx="3073400" cy="64633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400" smtClean="0">
                <a:solidFill>
                  <a:srgbClr val="6B7280"/>
                </a:solidFill>
                <a:latin typeface="DM Sans"/>
              </a:rPr>
              <a:t>Frontend is deployed on Vercel, backend on Railway, with Supabase for database and storage services.</a:t>
            </a:r>
            <a:endParaRPr lang="en-US" sz="1400">
              <a:solidFill>
                <a:srgbClr val="6B7280"/>
              </a:solidFill>
              <a:latin typeface="DM Sans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533400" y="6502400"/>
            <a:ext cx="8890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00" smtClean="0">
                <a:solidFill>
                  <a:srgbClr val="6B7280"/>
                </a:solidFill>
                <a:latin typeface="DM Sans"/>
              </a:rPr>
              <a:t>AgriculNet | Academic Presentation | 2026</a:t>
            </a:r>
            <a:endParaRPr lang="en-US" sz="900">
              <a:solidFill>
                <a:srgbClr val="6B7280"/>
              </a:solidFill>
              <a:latin typeface="DM Sans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1303000" y="6477000"/>
            <a:ext cx="381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sz="1000" smtClean="0">
                <a:solidFill>
                  <a:srgbClr val="6B7280"/>
                </a:solidFill>
                <a:latin typeface="DM Sans"/>
              </a:rPr>
              <a:t>5</a:t>
            </a:r>
            <a:endParaRPr lang="en-US" sz="1000">
              <a:solidFill>
                <a:srgbClr val="6B7280"/>
              </a:solidFill>
              <a:latin typeface="DM Sans"/>
            </a:endParaRPr>
          </a:p>
        </p:txBody>
      </p:sp>
    </p:spTree>
    <p:extLst>
      <p:ext uri="{BB962C8B-B14F-4D97-AF65-F5344CB8AC3E}">
        <p14:creationId xmlns:p14="http://schemas.microsoft.com/office/powerpoint/2010/main" val="14208222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228600"/>
          </a:xfrm>
          <a:prstGeom prst="rect">
            <a:avLst/>
          </a:prstGeom>
          <a:solidFill>
            <a:srgbClr val="0B3B2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533400" y="355600"/>
            <a:ext cx="7620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200" b="1" smtClean="0">
                <a:solidFill>
                  <a:srgbClr val="145D37"/>
                </a:solidFill>
                <a:latin typeface="DM Sans"/>
              </a:rPr>
              <a:t>PUBLIC EXPERIENCE</a:t>
            </a:r>
            <a:endParaRPr lang="en-US" sz="1200" b="1">
              <a:solidFill>
                <a:srgbClr val="145D37"/>
              </a:solidFill>
              <a:latin typeface="DM San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33400" y="660400"/>
            <a:ext cx="10668000" cy="3847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500" b="1" smtClean="0">
                <a:solidFill>
                  <a:srgbClr val="1F2937"/>
                </a:solidFill>
                <a:latin typeface="DM Serif Display"/>
              </a:rPr>
              <a:t>Public marketplace and export-facing presentation</a:t>
            </a:r>
            <a:endParaRPr lang="en-US" sz="2500" b="1">
              <a:solidFill>
                <a:srgbClr val="1F2937"/>
              </a:solidFill>
              <a:latin typeface="DM Serif Display"/>
            </a:endParaRPr>
          </a:p>
        </p:txBody>
      </p:sp>
      <p:pic>
        <p:nvPicPr>
          <p:cNvPr id="5" name="Picture 4"/>
          <p:cNvPicPr>
            <a:picLocks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400" y="1498600"/>
            <a:ext cx="7112000" cy="4191000"/>
          </a:xfrm>
          <a:prstGeom prst="rect">
            <a:avLst/>
          </a:prstGeom>
          <a:ln w="9525">
            <a:solidFill>
              <a:srgbClr val="E1E7EB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7975600" y="1600200"/>
            <a:ext cx="3530600" cy="235449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1700" smtClean="0">
                <a:solidFill>
                  <a:srgbClr val="1F2937"/>
                </a:solidFill>
                <a:latin typeface="DM Sans"/>
              </a:rPr>
              <a:t>â€¢ Export-focused public page for international buyers</a:t>
            </a:r>
          </a:p>
          <a:p>
            <a:r>
              <a:rPr lang="en-US" sz="1700" smtClean="0">
                <a:solidFill>
                  <a:srgbClr val="1F2937"/>
                </a:solidFill>
                <a:latin typeface="DM Sans"/>
              </a:rPr>
              <a:t>â€¢ Showcases export-ready listings and sourcing process</a:t>
            </a:r>
          </a:p>
          <a:p>
            <a:r>
              <a:rPr lang="en-US" sz="1700" smtClean="0">
                <a:solidFill>
                  <a:srgbClr val="1F2937"/>
                </a:solidFill>
                <a:latin typeface="DM Sans"/>
              </a:rPr>
              <a:t>â€¢ Explains logistics, documentation, and payment protection</a:t>
            </a:r>
          </a:p>
          <a:p>
            <a:r>
              <a:rPr lang="en-US" sz="1700" smtClean="0">
                <a:solidFill>
                  <a:srgbClr val="1F2937"/>
                </a:solidFill>
                <a:latin typeface="DM Sans"/>
              </a:rPr>
              <a:t>â€¢ Uses branded green and gold visual identity</a:t>
            </a:r>
            <a:endParaRPr lang="en-US" sz="1700">
              <a:solidFill>
                <a:srgbClr val="1F2937"/>
              </a:solidFill>
              <a:latin typeface="DM San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7975600" y="4292600"/>
            <a:ext cx="3530600" cy="1397000"/>
          </a:xfrm>
          <a:prstGeom prst="rect">
            <a:avLst/>
          </a:prstGeom>
          <a:solidFill>
            <a:srgbClr val="ECF6F0"/>
          </a:solidFill>
          <a:ln w="12700">
            <a:solidFill>
              <a:srgbClr val="145D3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8153400" y="4445000"/>
            <a:ext cx="317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b="1" smtClean="0">
                <a:solidFill>
                  <a:srgbClr val="1F2937"/>
                </a:solidFill>
                <a:latin typeface="DM Sans"/>
              </a:rPr>
              <a:t>Presenter cue</a:t>
            </a:r>
            <a:endParaRPr lang="en-US" b="1">
              <a:solidFill>
                <a:srgbClr val="1F2937"/>
              </a:solidFill>
              <a:latin typeface="DM San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153400" y="4826000"/>
            <a:ext cx="3175000" cy="64633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400" smtClean="0">
                <a:solidFill>
                  <a:srgbClr val="6B7280"/>
                </a:solidFill>
                <a:latin typeface="DM Sans"/>
              </a:rPr>
              <a:t>Use this slide to explain how AgriculNet attracts and informs buyers before they enter authenticated workflows.</a:t>
            </a:r>
            <a:endParaRPr lang="en-US" sz="1400">
              <a:solidFill>
                <a:srgbClr val="6B7280"/>
              </a:solidFill>
              <a:latin typeface="DM San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33400" y="6502400"/>
            <a:ext cx="8890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00" smtClean="0">
                <a:solidFill>
                  <a:srgbClr val="6B7280"/>
                </a:solidFill>
                <a:latin typeface="DM Sans"/>
              </a:rPr>
              <a:t>AgriculNet | Academic Presentation | 2026</a:t>
            </a:r>
            <a:endParaRPr lang="en-US" sz="900">
              <a:solidFill>
                <a:srgbClr val="6B7280"/>
              </a:solidFill>
              <a:latin typeface="DM San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1303000" y="6477000"/>
            <a:ext cx="381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sz="1000" smtClean="0">
                <a:solidFill>
                  <a:srgbClr val="6B7280"/>
                </a:solidFill>
                <a:latin typeface="DM Sans"/>
              </a:rPr>
              <a:t>6</a:t>
            </a:r>
            <a:endParaRPr lang="en-US" sz="1000">
              <a:solidFill>
                <a:srgbClr val="6B7280"/>
              </a:solidFill>
              <a:latin typeface="DM Sans"/>
            </a:endParaRPr>
          </a:p>
        </p:txBody>
      </p:sp>
    </p:spTree>
    <p:extLst>
      <p:ext uri="{BB962C8B-B14F-4D97-AF65-F5344CB8AC3E}">
        <p14:creationId xmlns:p14="http://schemas.microsoft.com/office/powerpoint/2010/main" val="28397914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228600"/>
          </a:xfrm>
          <a:prstGeom prst="rect">
            <a:avLst/>
          </a:prstGeom>
          <a:solidFill>
            <a:srgbClr val="0B3B2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533400" y="355600"/>
            <a:ext cx="7620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200" b="1" smtClean="0">
                <a:solidFill>
                  <a:srgbClr val="145D37"/>
                </a:solidFill>
                <a:latin typeface="DM Sans"/>
              </a:rPr>
              <a:t>BUYER DASHBOARD</a:t>
            </a:r>
            <a:endParaRPr lang="en-US" sz="1200" b="1">
              <a:solidFill>
                <a:srgbClr val="145D37"/>
              </a:solidFill>
              <a:latin typeface="DM San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33400" y="660400"/>
            <a:ext cx="10668000" cy="3847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500" b="1" smtClean="0">
                <a:solidFill>
                  <a:srgbClr val="1F2937"/>
                </a:solidFill>
                <a:latin typeface="DM Serif Display"/>
              </a:rPr>
              <a:t>Buyer workflows: support, communication, and preferences</a:t>
            </a:r>
            <a:endParaRPr lang="en-US" sz="2500" b="1">
              <a:solidFill>
                <a:srgbClr val="1F2937"/>
              </a:solidFill>
              <a:latin typeface="DM Serif Display"/>
            </a:endParaRPr>
          </a:p>
        </p:txBody>
      </p:sp>
      <p:pic>
        <p:nvPicPr>
          <p:cNvPr id="5" name="Picture 4"/>
          <p:cNvPicPr>
            <a:picLocks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400" y="1498600"/>
            <a:ext cx="3492500" cy="1955800"/>
          </a:xfrm>
          <a:prstGeom prst="rect">
            <a:avLst/>
          </a:prstGeom>
          <a:ln w="9525">
            <a:solidFill>
              <a:srgbClr val="E1E7EB"/>
            </a:solidFill>
          </a:ln>
        </p:spPr>
      </p:pic>
      <p:pic>
        <p:nvPicPr>
          <p:cNvPr id="6" name="Picture 5"/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1000" y="1498600"/>
            <a:ext cx="3492500" cy="1955800"/>
          </a:xfrm>
          <a:prstGeom prst="rect">
            <a:avLst/>
          </a:prstGeom>
          <a:ln w="9525">
            <a:solidFill>
              <a:srgbClr val="E1E7EB"/>
            </a:solidFill>
          </a:ln>
        </p:spPr>
      </p:pic>
      <p:pic>
        <p:nvPicPr>
          <p:cNvPr id="7" name="Picture 6"/>
          <p:cNvPicPr>
            <a:picLocks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48600" y="1498600"/>
            <a:ext cx="3657600" cy="3810000"/>
          </a:xfrm>
          <a:prstGeom prst="rect">
            <a:avLst/>
          </a:prstGeom>
          <a:ln w="9525">
            <a:solidFill>
              <a:srgbClr val="E1E7EB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533400" y="3708400"/>
            <a:ext cx="7112000" cy="156966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1700" smtClean="0">
                <a:solidFill>
                  <a:srgbClr val="1F2937"/>
                </a:solidFill>
                <a:latin typeface="DM Sans"/>
              </a:rPr>
              <a:t>â€¢ Help &amp; Support page combines FAQ, guides, live support categories, and ticket submission</a:t>
            </a:r>
          </a:p>
          <a:p>
            <a:r>
              <a:rPr lang="en-US" sz="1700" smtClean="0">
                <a:solidFill>
                  <a:srgbClr val="1F2937"/>
                </a:solidFill>
                <a:latin typeface="DM Sans"/>
              </a:rPr>
              <a:t>â€¢ Messages page keeps conversation context tied to order and listing activity</a:t>
            </a:r>
          </a:p>
          <a:p>
            <a:r>
              <a:rPr lang="en-US" sz="1700" smtClean="0">
                <a:solidFill>
                  <a:srgbClr val="1F2937"/>
                </a:solidFill>
                <a:latin typeface="DM Sans"/>
              </a:rPr>
              <a:t>â€¢ Settings page centralizes account preferences, payment-method preference, language, privacy, and security surfaces</a:t>
            </a:r>
            <a:endParaRPr lang="en-US" sz="1700">
              <a:solidFill>
                <a:srgbClr val="1F2937"/>
              </a:solidFill>
              <a:latin typeface="DM San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33400" y="6502400"/>
            <a:ext cx="8890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00" smtClean="0">
                <a:solidFill>
                  <a:srgbClr val="6B7280"/>
                </a:solidFill>
                <a:latin typeface="DM Sans"/>
              </a:rPr>
              <a:t>AgriculNet | Academic Presentation | 2026</a:t>
            </a:r>
            <a:endParaRPr lang="en-US" sz="900">
              <a:solidFill>
                <a:srgbClr val="6B7280"/>
              </a:solidFill>
              <a:latin typeface="DM San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1303000" y="6477000"/>
            <a:ext cx="381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sz="1000" smtClean="0">
                <a:solidFill>
                  <a:srgbClr val="6B7280"/>
                </a:solidFill>
                <a:latin typeface="DM Sans"/>
              </a:rPr>
              <a:t>7</a:t>
            </a:r>
            <a:endParaRPr lang="en-US" sz="1000">
              <a:solidFill>
                <a:srgbClr val="6B7280"/>
              </a:solidFill>
              <a:latin typeface="DM Sans"/>
            </a:endParaRPr>
          </a:p>
        </p:txBody>
      </p:sp>
    </p:spTree>
    <p:extLst>
      <p:ext uri="{BB962C8B-B14F-4D97-AF65-F5344CB8AC3E}">
        <p14:creationId xmlns:p14="http://schemas.microsoft.com/office/powerpoint/2010/main" val="38217508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228600"/>
          </a:xfrm>
          <a:prstGeom prst="rect">
            <a:avLst/>
          </a:prstGeom>
          <a:solidFill>
            <a:srgbClr val="0B3B2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533400" y="355600"/>
            <a:ext cx="7620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200" b="1" smtClean="0">
                <a:solidFill>
                  <a:srgbClr val="145D37"/>
                </a:solidFill>
                <a:latin typeface="DM Sans"/>
              </a:rPr>
              <a:t>SELLER OPERATIONS</a:t>
            </a:r>
            <a:endParaRPr lang="en-US" sz="1200" b="1">
              <a:solidFill>
                <a:srgbClr val="145D37"/>
              </a:solidFill>
              <a:latin typeface="DM San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33400" y="660400"/>
            <a:ext cx="10668000" cy="3847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500" b="1" smtClean="0">
                <a:solidFill>
                  <a:srgbClr val="1F2937"/>
                </a:solidFill>
                <a:latin typeface="DM Serif Display"/>
              </a:rPr>
              <a:t>Farmer and reseller workflows</a:t>
            </a:r>
            <a:endParaRPr lang="en-US" sz="2500" b="1">
              <a:solidFill>
                <a:srgbClr val="1F2937"/>
              </a:solidFill>
              <a:latin typeface="DM Serif Display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33400" y="1549400"/>
            <a:ext cx="3429000" cy="177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E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711200" y="1701800"/>
            <a:ext cx="3073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b="1" smtClean="0">
                <a:solidFill>
                  <a:srgbClr val="1F2937"/>
                </a:solidFill>
                <a:latin typeface="DM Sans"/>
              </a:rPr>
              <a:t>Listing management</a:t>
            </a:r>
            <a:endParaRPr lang="en-US" b="1">
              <a:solidFill>
                <a:srgbClr val="1F2937"/>
              </a:solidFill>
              <a:latin typeface="DM San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11200" y="2082800"/>
            <a:ext cx="3073400" cy="64633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400" smtClean="0">
                <a:solidFill>
                  <a:srgbClr val="6B7280"/>
                </a:solidFill>
                <a:latin typeface="DM Sans"/>
              </a:rPr>
              <a:t>Sellers create listings, upload media, manage crop details, track availability, and present inventory to buyers.</a:t>
            </a:r>
            <a:endParaRPr lang="en-US" sz="1400">
              <a:solidFill>
                <a:srgbClr val="6B7280"/>
              </a:solidFill>
              <a:latin typeface="DM San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191000" y="1549400"/>
            <a:ext cx="3429000" cy="177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E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4368800" y="1701800"/>
            <a:ext cx="3073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b="1" smtClean="0">
                <a:solidFill>
                  <a:srgbClr val="1F2937"/>
                </a:solidFill>
                <a:latin typeface="DM Sans"/>
              </a:rPr>
              <a:t>Order visibility</a:t>
            </a:r>
            <a:endParaRPr lang="en-US" b="1">
              <a:solidFill>
                <a:srgbClr val="1F2937"/>
              </a:solidFill>
              <a:latin typeface="DM San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368800" y="2082800"/>
            <a:ext cx="3073400" cy="86177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400" smtClean="0">
                <a:solidFill>
                  <a:srgbClr val="6B7280"/>
                </a:solidFill>
                <a:latin typeface="DM Sans"/>
              </a:rPr>
              <a:t>Farmer and reseller dashboards track active orders, communication with buyers, and payout-related operational state.</a:t>
            </a:r>
            <a:endParaRPr lang="en-US" sz="1400">
              <a:solidFill>
                <a:srgbClr val="6B7280"/>
              </a:solidFill>
              <a:latin typeface="DM Sans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7848600" y="1549400"/>
            <a:ext cx="3429000" cy="177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E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026400" y="1701800"/>
            <a:ext cx="3073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b="1" smtClean="0">
                <a:solidFill>
                  <a:srgbClr val="1F2937"/>
                </a:solidFill>
                <a:latin typeface="DM Sans"/>
              </a:rPr>
              <a:t>Verification controls</a:t>
            </a:r>
            <a:endParaRPr lang="en-US" b="1">
              <a:solidFill>
                <a:srgbClr val="1F2937"/>
              </a:solidFill>
              <a:latin typeface="DM San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026400" y="2082800"/>
            <a:ext cx="3073400" cy="86177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400" smtClean="0">
                <a:solidFill>
                  <a:srgbClr val="6B7280"/>
                </a:solidFill>
                <a:latin typeface="DM Sans"/>
              </a:rPr>
              <a:t>Seller trust is tied to account state, identity verification, and listing-readiness review rather than open anonymous selling.</a:t>
            </a:r>
            <a:endParaRPr lang="en-US" sz="1400">
              <a:solidFill>
                <a:srgbClr val="6B7280"/>
              </a:solidFill>
              <a:latin typeface="DM Sans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812800" y="3962400"/>
            <a:ext cx="2286000" cy="1193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E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/>
          <p:cNvSpPr txBox="1"/>
          <p:nvPr/>
        </p:nvSpPr>
        <p:spPr>
          <a:xfrm>
            <a:off x="939800" y="4089400"/>
            <a:ext cx="381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b="1" smtClean="0">
                <a:solidFill>
                  <a:srgbClr val="145D37"/>
                </a:solidFill>
                <a:latin typeface="DM Serif Display"/>
              </a:rPr>
              <a:t>1</a:t>
            </a:r>
            <a:endParaRPr lang="en-US" b="1">
              <a:solidFill>
                <a:srgbClr val="145D37"/>
              </a:solidFill>
              <a:latin typeface="DM Serif Display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346200" y="4089400"/>
            <a:ext cx="16256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600" b="1" smtClean="0">
                <a:solidFill>
                  <a:srgbClr val="1F2937"/>
                </a:solidFill>
                <a:latin typeface="DM Sans"/>
              </a:rPr>
              <a:t>Register</a:t>
            </a:r>
            <a:endParaRPr lang="en-US" sz="1600" b="1">
              <a:solidFill>
                <a:srgbClr val="1F2937"/>
              </a:solidFill>
              <a:latin typeface="DM Sans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939800" y="4445000"/>
            <a:ext cx="2032000" cy="4001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300" smtClean="0">
                <a:solidFill>
                  <a:srgbClr val="6B7280"/>
                </a:solidFill>
                <a:latin typeface="DM Sans"/>
              </a:rPr>
              <a:t>Seller account created and role assigned.</a:t>
            </a:r>
            <a:endParaRPr lang="en-US" sz="1300">
              <a:solidFill>
                <a:srgbClr val="6B7280"/>
              </a:solidFill>
              <a:latin typeface="DM Sans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3479800" y="3962400"/>
            <a:ext cx="2286000" cy="1193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E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/>
          <p:cNvSpPr txBox="1"/>
          <p:nvPr/>
        </p:nvSpPr>
        <p:spPr>
          <a:xfrm>
            <a:off x="3606800" y="4089400"/>
            <a:ext cx="381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b="1" smtClean="0">
                <a:solidFill>
                  <a:srgbClr val="145D37"/>
                </a:solidFill>
                <a:latin typeface="DM Serif Display"/>
              </a:rPr>
              <a:t>2</a:t>
            </a:r>
            <a:endParaRPr lang="en-US" b="1">
              <a:solidFill>
                <a:srgbClr val="145D37"/>
              </a:solidFill>
              <a:latin typeface="DM Serif Display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4013200" y="4089400"/>
            <a:ext cx="16256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600" b="1" smtClean="0">
                <a:solidFill>
                  <a:srgbClr val="1F2937"/>
                </a:solidFill>
                <a:latin typeface="DM Sans"/>
              </a:rPr>
              <a:t>Verify</a:t>
            </a:r>
            <a:endParaRPr lang="en-US" sz="1600" b="1">
              <a:solidFill>
                <a:srgbClr val="1F2937"/>
              </a:solidFill>
              <a:latin typeface="DM Sans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3606800" y="4445000"/>
            <a:ext cx="2032000" cy="4001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300" smtClean="0">
                <a:solidFill>
                  <a:srgbClr val="6B7280"/>
                </a:solidFill>
                <a:latin typeface="DM Sans"/>
              </a:rPr>
              <a:t>Identity and profile workflow completed.</a:t>
            </a:r>
            <a:endParaRPr lang="en-US" sz="1300">
              <a:solidFill>
                <a:srgbClr val="6B7280"/>
              </a:solidFill>
              <a:latin typeface="DM Sans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6146800" y="3962400"/>
            <a:ext cx="2286000" cy="1193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E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/>
          <p:cNvSpPr txBox="1"/>
          <p:nvPr/>
        </p:nvSpPr>
        <p:spPr>
          <a:xfrm>
            <a:off x="6273800" y="4089400"/>
            <a:ext cx="381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b="1" smtClean="0">
                <a:solidFill>
                  <a:srgbClr val="145D37"/>
                </a:solidFill>
                <a:latin typeface="DM Serif Display"/>
              </a:rPr>
              <a:t>3</a:t>
            </a:r>
            <a:endParaRPr lang="en-US" b="1">
              <a:solidFill>
                <a:srgbClr val="145D37"/>
              </a:solidFill>
              <a:latin typeface="DM Serif Display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6680200" y="4089400"/>
            <a:ext cx="16256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600" b="1" smtClean="0">
                <a:solidFill>
                  <a:srgbClr val="1F2937"/>
                </a:solidFill>
                <a:latin typeface="DM Sans"/>
              </a:rPr>
              <a:t>List</a:t>
            </a:r>
            <a:endParaRPr lang="en-US" sz="1600" b="1">
              <a:solidFill>
                <a:srgbClr val="1F2937"/>
              </a:solidFill>
              <a:latin typeface="DM Sans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273800" y="4445000"/>
            <a:ext cx="2032000" cy="4001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300" smtClean="0">
                <a:solidFill>
                  <a:srgbClr val="6B7280"/>
                </a:solidFill>
                <a:latin typeface="DM Sans"/>
              </a:rPr>
              <a:t>Crop inventory becomes visible to buyers.</a:t>
            </a:r>
            <a:endParaRPr lang="en-US" sz="1300">
              <a:solidFill>
                <a:srgbClr val="6B7280"/>
              </a:solidFill>
              <a:latin typeface="DM Sans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8813800" y="3962400"/>
            <a:ext cx="2286000" cy="1193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E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/>
          <p:cNvSpPr txBox="1"/>
          <p:nvPr/>
        </p:nvSpPr>
        <p:spPr>
          <a:xfrm>
            <a:off x="8940800" y="4089400"/>
            <a:ext cx="381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b="1" smtClean="0">
                <a:solidFill>
                  <a:srgbClr val="145D37"/>
                </a:solidFill>
                <a:latin typeface="DM Serif Display"/>
              </a:rPr>
              <a:t>4</a:t>
            </a:r>
            <a:endParaRPr lang="en-US" b="1">
              <a:solidFill>
                <a:srgbClr val="145D37"/>
              </a:solidFill>
              <a:latin typeface="DM Serif Display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9347200" y="4089400"/>
            <a:ext cx="16256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600" b="1" smtClean="0">
                <a:solidFill>
                  <a:srgbClr val="1F2937"/>
                </a:solidFill>
                <a:latin typeface="DM Sans"/>
              </a:rPr>
              <a:t>Fulfill</a:t>
            </a:r>
            <a:endParaRPr lang="en-US" sz="1600" b="1">
              <a:solidFill>
                <a:srgbClr val="1F2937"/>
              </a:solidFill>
              <a:latin typeface="DM Sans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8940800" y="4445000"/>
            <a:ext cx="2032000" cy="60016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300" smtClean="0">
                <a:solidFill>
                  <a:srgbClr val="6B7280"/>
                </a:solidFill>
                <a:latin typeface="DM Sans"/>
              </a:rPr>
              <a:t>Seller responds, confirms, and delivers against the order.</a:t>
            </a:r>
            <a:endParaRPr lang="en-US" sz="1300">
              <a:solidFill>
                <a:srgbClr val="6B7280"/>
              </a:solidFill>
              <a:latin typeface="DM Sans"/>
            </a:endParaRPr>
          </a:p>
        </p:txBody>
      </p:sp>
      <p:cxnSp>
        <p:nvCxnSpPr>
          <p:cNvPr id="30" name="Straight Connector 29"/>
          <p:cNvCxnSpPr/>
          <p:nvPr/>
        </p:nvCxnSpPr>
        <p:spPr>
          <a:xfrm>
            <a:off x="3098800" y="4559300"/>
            <a:ext cx="381000" cy="0"/>
          </a:xfrm>
          <a:prstGeom prst="line">
            <a:avLst/>
          </a:prstGeom>
          <a:ln w="19050">
            <a:solidFill>
              <a:srgbClr val="145D37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/>
          <p:cNvCxnSpPr/>
          <p:nvPr/>
        </p:nvCxnSpPr>
        <p:spPr>
          <a:xfrm>
            <a:off x="5765800" y="4559300"/>
            <a:ext cx="381000" cy="0"/>
          </a:xfrm>
          <a:prstGeom prst="line">
            <a:avLst/>
          </a:prstGeom>
          <a:ln w="19050">
            <a:solidFill>
              <a:srgbClr val="145D37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/>
          <p:cNvCxnSpPr/>
          <p:nvPr/>
        </p:nvCxnSpPr>
        <p:spPr>
          <a:xfrm>
            <a:off x="8432800" y="4559300"/>
            <a:ext cx="381000" cy="0"/>
          </a:xfrm>
          <a:prstGeom prst="line">
            <a:avLst/>
          </a:prstGeom>
          <a:ln w="19050">
            <a:solidFill>
              <a:srgbClr val="145D37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533400" y="6502400"/>
            <a:ext cx="8890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00" smtClean="0">
                <a:solidFill>
                  <a:srgbClr val="6B7280"/>
                </a:solidFill>
                <a:latin typeface="DM Sans"/>
              </a:rPr>
              <a:t>AgriculNet | Academic Presentation | 2026</a:t>
            </a:r>
            <a:endParaRPr lang="en-US" sz="900">
              <a:solidFill>
                <a:srgbClr val="6B7280"/>
              </a:solidFill>
              <a:latin typeface="DM Sans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11303000" y="6477000"/>
            <a:ext cx="381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sz="1000" smtClean="0">
                <a:solidFill>
                  <a:srgbClr val="6B7280"/>
                </a:solidFill>
                <a:latin typeface="DM Sans"/>
              </a:rPr>
              <a:t>8</a:t>
            </a:r>
            <a:endParaRPr lang="en-US" sz="1000">
              <a:solidFill>
                <a:srgbClr val="6B7280"/>
              </a:solidFill>
              <a:latin typeface="DM Sans"/>
            </a:endParaRPr>
          </a:p>
        </p:txBody>
      </p:sp>
    </p:spTree>
    <p:extLst>
      <p:ext uri="{BB962C8B-B14F-4D97-AF65-F5344CB8AC3E}">
        <p14:creationId xmlns:p14="http://schemas.microsoft.com/office/powerpoint/2010/main" val="4620808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228600"/>
          </a:xfrm>
          <a:prstGeom prst="rect">
            <a:avLst/>
          </a:prstGeom>
          <a:solidFill>
            <a:srgbClr val="0B3B2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533400" y="355600"/>
            <a:ext cx="7620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200" b="1" smtClean="0">
                <a:solidFill>
                  <a:srgbClr val="145D37"/>
                </a:solidFill>
                <a:latin typeface="DM Sans"/>
              </a:rPr>
              <a:t>ADMINISTRATION</a:t>
            </a:r>
            <a:endParaRPr lang="en-US" sz="1200" b="1">
              <a:solidFill>
                <a:srgbClr val="145D37"/>
              </a:solidFill>
              <a:latin typeface="DM San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33400" y="660400"/>
            <a:ext cx="10668000" cy="3847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500" b="1" smtClean="0">
                <a:solidFill>
                  <a:srgbClr val="1F2937"/>
                </a:solidFill>
                <a:latin typeface="DM Serif Display"/>
              </a:rPr>
              <a:t>Admin and verification workflows</a:t>
            </a:r>
            <a:endParaRPr lang="en-US" sz="2500" b="1">
              <a:solidFill>
                <a:srgbClr val="1F2937"/>
              </a:solidFill>
              <a:latin typeface="DM Serif Display"/>
            </a:endParaRPr>
          </a:p>
        </p:txBody>
      </p:sp>
      <p:pic>
        <p:nvPicPr>
          <p:cNvPr id="5" name="Picture 4"/>
          <p:cNvPicPr>
            <a:picLocks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12000" y="1498600"/>
            <a:ext cx="4445000" cy="3492500"/>
          </a:xfrm>
          <a:prstGeom prst="rect">
            <a:avLst/>
          </a:prstGeom>
          <a:ln w="9525">
            <a:solidFill>
              <a:srgbClr val="E1E7EB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533400" y="1600200"/>
            <a:ext cx="5969000" cy="156966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1700" smtClean="0">
                <a:solidFill>
                  <a:srgbClr val="1F2937"/>
                </a:solidFill>
                <a:latin typeface="DM Sans"/>
              </a:rPr>
              <a:t>â€¢ Admins review operational data across users, listings, payments, disputes, and inspections</a:t>
            </a:r>
          </a:p>
          <a:p>
            <a:r>
              <a:rPr lang="en-US" sz="1700" smtClean="0">
                <a:solidFill>
                  <a:srgbClr val="1F2937"/>
                </a:solidFill>
                <a:latin typeface="DM Sans"/>
              </a:rPr>
              <a:t>â€¢ Verification evidence and account states are controlled from the backend</a:t>
            </a:r>
          </a:p>
          <a:p>
            <a:r>
              <a:rPr lang="en-US" sz="1700" smtClean="0">
                <a:solidFill>
                  <a:srgbClr val="1F2937"/>
                </a:solidFill>
                <a:latin typeface="DM Sans"/>
              </a:rPr>
              <a:t>â€¢ Admin role maintains platform trust by deciding review, approval, rejection, and operational escalation paths</a:t>
            </a:r>
            <a:endParaRPr lang="en-US" sz="1700">
              <a:solidFill>
                <a:srgbClr val="1F2937"/>
              </a:solidFill>
              <a:latin typeface="DM San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33400" y="4013200"/>
            <a:ext cx="5969000" cy="1422400"/>
          </a:xfrm>
          <a:prstGeom prst="rect">
            <a:avLst/>
          </a:prstGeom>
          <a:solidFill>
            <a:srgbClr val="ECF6F0"/>
          </a:solidFill>
          <a:ln w="12700">
            <a:solidFill>
              <a:srgbClr val="145D3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711200" y="4165600"/>
            <a:ext cx="5613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b="1" smtClean="0">
                <a:solidFill>
                  <a:srgbClr val="1F2937"/>
                </a:solidFill>
                <a:latin typeface="DM Sans"/>
              </a:rPr>
              <a:t>Verification flow</a:t>
            </a:r>
            <a:endParaRPr lang="en-US" b="1">
              <a:solidFill>
                <a:srgbClr val="1F2937"/>
              </a:solidFill>
              <a:latin typeface="DM San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11200" y="4546600"/>
            <a:ext cx="56134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400" smtClean="0">
                <a:solidFill>
                  <a:srgbClr val="6B7280"/>
                </a:solidFill>
                <a:latin typeface="DM Sans"/>
              </a:rPr>
              <a:t>Registration -&gt; email and phone verification -&gt; identity review where required -&gt; active dashboard access -&gt; ongoing operational oversight.</a:t>
            </a:r>
            <a:endParaRPr lang="en-US" sz="1400">
              <a:solidFill>
                <a:srgbClr val="6B7280"/>
              </a:solidFill>
              <a:latin typeface="DM San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33400" y="6502400"/>
            <a:ext cx="8890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00" smtClean="0">
                <a:solidFill>
                  <a:srgbClr val="6B7280"/>
                </a:solidFill>
                <a:latin typeface="DM Sans"/>
              </a:rPr>
              <a:t>AgriculNet | Academic Presentation | 2026</a:t>
            </a:r>
            <a:endParaRPr lang="en-US" sz="900">
              <a:solidFill>
                <a:srgbClr val="6B7280"/>
              </a:solidFill>
              <a:latin typeface="DM San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1303000" y="6477000"/>
            <a:ext cx="381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sz="1000" smtClean="0">
                <a:solidFill>
                  <a:srgbClr val="6B7280"/>
                </a:solidFill>
                <a:latin typeface="DM Sans"/>
              </a:rPr>
              <a:t>9</a:t>
            </a:r>
            <a:endParaRPr lang="en-US" sz="1000">
              <a:solidFill>
                <a:srgbClr val="6B7280"/>
              </a:solidFill>
              <a:latin typeface="DM Sans"/>
            </a:endParaRPr>
          </a:p>
        </p:txBody>
      </p:sp>
    </p:spTree>
    <p:extLst>
      <p:ext uri="{BB962C8B-B14F-4D97-AF65-F5344CB8AC3E}">
        <p14:creationId xmlns:p14="http://schemas.microsoft.com/office/powerpoint/2010/main" val="21417477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228600"/>
          </a:xfrm>
          <a:prstGeom prst="rect">
            <a:avLst/>
          </a:prstGeom>
          <a:solidFill>
            <a:srgbClr val="0B3B2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533400" y="355600"/>
            <a:ext cx="7620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200" b="1" smtClean="0">
                <a:solidFill>
                  <a:srgbClr val="145D37"/>
                </a:solidFill>
                <a:latin typeface="DM Sans"/>
              </a:rPr>
              <a:t>ARCHITECTURE</a:t>
            </a:r>
            <a:endParaRPr lang="en-US" sz="1200" b="1">
              <a:solidFill>
                <a:srgbClr val="145D37"/>
              </a:solidFill>
              <a:latin typeface="DM San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33400" y="660400"/>
            <a:ext cx="10668000" cy="3847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500" b="1" smtClean="0">
                <a:solidFill>
                  <a:srgbClr val="1F2937"/>
                </a:solidFill>
                <a:latin typeface="DM Serif Display"/>
              </a:rPr>
              <a:t>System architecture and technology stack</a:t>
            </a:r>
            <a:endParaRPr lang="en-US" sz="2500" b="1">
              <a:solidFill>
                <a:srgbClr val="1F2937"/>
              </a:solidFill>
              <a:latin typeface="DM Serif Display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33400" y="1905000"/>
            <a:ext cx="2286000" cy="1168400"/>
          </a:xfrm>
          <a:prstGeom prst="rect">
            <a:avLst/>
          </a:prstGeom>
          <a:solidFill>
            <a:srgbClr val="ECF6F0"/>
          </a:solidFill>
          <a:ln w="12700">
            <a:solidFill>
              <a:srgbClr val="145D3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711200" y="2057400"/>
            <a:ext cx="1930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b="1" smtClean="0">
                <a:solidFill>
                  <a:srgbClr val="1F2937"/>
                </a:solidFill>
                <a:latin typeface="DM Sans"/>
              </a:rPr>
              <a:t>Frontend</a:t>
            </a:r>
            <a:endParaRPr lang="en-US" b="1">
              <a:solidFill>
                <a:srgbClr val="1F2937"/>
              </a:solidFill>
              <a:latin typeface="DM San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11200" y="2438400"/>
            <a:ext cx="1930400" cy="64633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400" smtClean="0">
                <a:solidFill>
                  <a:srgbClr val="6B7280"/>
                </a:solidFill>
                <a:latin typeface="DM Sans"/>
              </a:rPr>
              <a:t>Next.js 14 app router, Tailwind CSS, Zustand, React Query</a:t>
            </a:r>
            <a:endParaRPr lang="en-US" sz="1400">
              <a:solidFill>
                <a:srgbClr val="6B7280"/>
              </a:solidFill>
              <a:latin typeface="DM San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3505200" y="1905000"/>
            <a:ext cx="2286000" cy="1168400"/>
          </a:xfrm>
          <a:prstGeom prst="rect">
            <a:avLst/>
          </a:prstGeom>
          <a:solidFill>
            <a:srgbClr val="FFFFFF"/>
          </a:solidFill>
          <a:ln w="12700">
            <a:solidFill>
              <a:srgbClr val="145D3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3683000" y="2057400"/>
            <a:ext cx="1930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b="1" smtClean="0">
                <a:solidFill>
                  <a:srgbClr val="1F2937"/>
                </a:solidFill>
                <a:latin typeface="DM Sans"/>
              </a:rPr>
              <a:t>Backend API</a:t>
            </a:r>
            <a:endParaRPr lang="en-US" b="1">
              <a:solidFill>
                <a:srgbClr val="1F2937"/>
              </a:solidFill>
              <a:latin typeface="DM San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683000" y="2438400"/>
            <a:ext cx="1930400" cy="64633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400" smtClean="0">
                <a:solidFill>
                  <a:srgbClr val="6B7280"/>
                </a:solidFill>
                <a:latin typeface="DM Sans"/>
              </a:rPr>
              <a:t>Express.js services, auth, orders, payments, messaging</a:t>
            </a:r>
            <a:endParaRPr lang="en-US" sz="1400">
              <a:solidFill>
                <a:srgbClr val="6B7280"/>
              </a:solidFill>
              <a:latin typeface="DM Sans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6477000" y="1905000"/>
            <a:ext cx="2286000" cy="1168400"/>
          </a:xfrm>
          <a:prstGeom prst="rect">
            <a:avLst/>
          </a:prstGeom>
          <a:solidFill>
            <a:srgbClr val="FFFFFF"/>
          </a:solidFill>
          <a:ln w="12700">
            <a:solidFill>
              <a:srgbClr val="145D3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6654800" y="2057400"/>
            <a:ext cx="1930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b="1" smtClean="0">
                <a:solidFill>
                  <a:srgbClr val="1F2937"/>
                </a:solidFill>
                <a:latin typeface="DM Sans"/>
              </a:rPr>
              <a:t>Supabase</a:t>
            </a:r>
            <a:endParaRPr lang="en-US" b="1">
              <a:solidFill>
                <a:srgbClr val="1F2937"/>
              </a:solidFill>
              <a:latin typeface="DM San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654800" y="2438400"/>
            <a:ext cx="1930400" cy="64633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400" smtClean="0">
                <a:solidFill>
                  <a:srgbClr val="6B7280"/>
                </a:solidFill>
                <a:latin typeface="DM Sans"/>
              </a:rPr>
              <a:t>Database, storage, and supporting backend data services</a:t>
            </a:r>
            <a:endParaRPr lang="en-US" sz="1400">
              <a:solidFill>
                <a:srgbClr val="6B7280"/>
              </a:solidFill>
              <a:latin typeface="DM Sans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9448800" y="1905000"/>
            <a:ext cx="1905000" cy="1168400"/>
          </a:xfrm>
          <a:prstGeom prst="rect">
            <a:avLst/>
          </a:prstGeom>
          <a:solidFill>
            <a:srgbClr val="FAF1CF"/>
          </a:solidFill>
          <a:ln w="12700">
            <a:solidFill>
              <a:srgbClr val="D6AB2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/>
          <p:cNvSpPr txBox="1"/>
          <p:nvPr/>
        </p:nvSpPr>
        <p:spPr>
          <a:xfrm>
            <a:off x="9626600" y="2057400"/>
            <a:ext cx="1549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b="1" smtClean="0">
                <a:solidFill>
                  <a:srgbClr val="1F2937"/>
                </a:solidFill>
                <a:latin typeface="DM Sans"/>
              </a:rPr>
              <a:t>Fapshi</a:t>
            </a:r>
            <a:endParaRPr lang="en-US" b="1">
              <a:solidFill>
                <a:srgbClr val="1F2937"/>
              </a:solidFill>
              <a:latin typeface="DM San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9626600" y="2438400"/>
            <a:ext cx="1549400" cy="86177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400" smtClean="0">
                <a:solidFill>
                  <a:srgbClr val="6B7280"/>
                </a:solidFill>
                <a:latin typeface="DM Sans"/>
              </a:rPr>
              <a:t>Hosted mobile-money checkout for MTN MoMo and Orange Money</a:t>
            </a:r>
            <a:endParaRPr lang="en-US" sz="1400">
              <a:solidFill>
                <a:srgbClr val="6B7280"/>
              </a:solidFill>
              <a:latin typeface="DM Sans"/>
            </a:endParaRPr>
          </a:p>
        </p:txBody>
      </p:sp>
      <p:cxnSp>
        <p:nvCxnSpPr>
          <p:cNvPr id="17" name="Straight Connector 16"/>
          <p:cNvCxnSpPr/>
          <p:nvPr/>
        </p:nvCxnSpPr>
        <p:spPr>
          <a:xfrm>
            <a:off x="2819400" y="2489200"/>
            <a:ext cx="685800" cy="0"/>
          </a:xfrm>
          <a:prstGeom prst="line">
            <a:avLst/>
          </a:prstGeom>
          <a:ln w="19050">
            <a:solidFill>
              <a:srgbClr val="145D37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791200" y="2489200"/>
            <a:ext cx="685800" cy="0"/>
          </a:xfrm>
          <a:prstGeom prst="line">
            <a:avLst/>
          </a:prstGeom>
          <a:ln w="19050">
            <a:solidFill>
              <a:srgbClr val="145D37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>
            <a:off x="5791200" y="2819400"/>
            <a:ext cx="3657600" cy="0"/>
          </a:xfrm>
          <a:prstGeom prst="line">
            <a:avLst/>
          </a:prstGeom>
          <a:ln w="19050">
            <a:solidFill>
              <a:srgbClr val="145D37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1143000" y="3835400"/>
            <a:ext cx="2794000" cy="121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E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/>
          <p:cNvSpPr txBox="1"/>
          <p:nvPr/>
        </p:nvSpPr>
        <p:spPr>
          <a:xfrm>
            <a:off x="1320800" y="3987800"/>
            <a:ext cx="2438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b="1" smtClean="0">
                <a:solidFill>
                  <a:srgbClr val="1F2937"/>
                </a:solidFill>
                <a:latin typeface="DM Sans"/>
              </a:rPr>
              <a:t>Frontend hosting</a:t>
            </a:r>
            <a:endParaRPr lang="en-US" b="1">
              <a:solidFill>
                <a:srgbClr val="1F2937"/>
              </a:solidFill>
              <a:latin typeface="DM Sans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1320800" y="4368800"/>
            <a:ext cx="24384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400" smtClean="0">
                <a:solidFill>
                  <a:srgbClr val="6B7280"/>
                </a:solidFill>
                <a:latin typeface="DM Sans"/>
              </a:rPr>
              <a:t>Vercel serves the public site and authenticated dashboards.</a:t>
            </a:r>
            <a:endParaRPr lang="en-US" sz="1400">
              <a:solidFill>
                <a:srgbClr val="6B7280"/>
              </a:solidFill>
              <a:latin typeface="DM Sans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4699000" y="3835400"/>
            <a:ext cx="2794000" cy="121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E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76800" y="3987800"/>
            <a:ext cx="2438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b="1" smtClean="0">
                <a:solidFill>
                  <a:srgbClr val="1F2937"/>
                </a:solidFill>
                <a:latin typeface="DM Sans"/>
              </a:rPr>
              <a:t>Backend hosting</a:t>
            </a:r>
            <a:endParaRPr lang="en-US" b="1">
              <a:solidFill>
                <a:srgbClr val="1F2937"/>
              </a:solidFill>
              <a:latin typeface="DM Sans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4876800" y="4368800"/>
            <a:ext cx="2438400" cy="64633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400" smtClean="0">
                <a:solidFill>
                  <a:srgbClr val="6B7280"/>
                </a:solidFill>
                <a:latin typeface="DM Sans"/>
              </a:rPr>
              <a:t>Railway runs the production API with environment-based configuration.</a:t>
            </a:r>
            <a:endParaRPr lang="en-US" sz="1400">
              <a:solidFill>
                <a:srgbClr val="6B7280"/>
              </a:solidFill>
              <a:latin typeface="DM Sans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8255000" y="3835400"/>
            <a:ext cx="2794000" cy="121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E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/>
          <p:cNvSpPr txBox="1"/>
          <p:nvPr/>
        </p:nvSpPr>
        <p:spPr>
          <a:xfrm>
            <a:off x="8432800" y="3987800"/>
            <a:ext cx="2438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b="1" smtClean="0">
                <a:solidFill>
                  <a:srgbClr val="1F2937"/>
                </a:solidFill>
                <a:latin typeface="DM Sans"/>
              </a:rPr>
              <a:t>Integration model</a:t>
            </a:r>
            <a:endParaRPr lang="en-US" b="1">
              <a:solidFill>
                <a:srgbClr val="1F2937"/>
              </a:solidFill>
              <a:latin typeface="DM Sans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8432800" y="4368800"/>
            <a:ext cx="2438400" cy="86177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400" smtClean="0">
                <a:solidFill>
                  <a:srgbClr val="6B7280"/>
                </a:solidFill>
                <a:latin typeface="DM Sans"/>
              </a:rPr>
              <a:t>Role-based dashboards talk to the API, which persists orders, payments, preferences, and messages.</a:t>
            </a:r>
            <a:endParaRPr lang="en-US" sz="1400">
              <a:solidFill>
                <a:srgbClr val="6B7280"/>
              </a:solidFill>
              <a:latin typeface="DM Sans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533400" y="6502400"/>
            <a:ext cx="8890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00" smtClean="0">
                <a:solidFill>
                  <a:srgbClr val="6B7280"/>
                </a:solidFill>
                <a:latin typeface="DM Sans"/>
              </a:rPr>
              <a:t>AgriculNet | Academic Presentation | 2026</a:t>
            </a:r>
            <a:endParaRPr lang="en-US" sz="900">
              <a:solidFill>
                <a:srgbClr val="6B7280"/>
              </a:solidFill>
              <a:latin typeface="DM Sans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11303000" y="6477000"/>
            <a:ext cx="381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sz="1000" smtClean="0">
                <a:solidFill>
                  <a:srgbClr val="6B7280"/>
                </a:solidFill>
                <a:latin typeface="DM Sans"/>
              </a:rPr>
              <a:t>10</a:t>
            </a:r>
            <a:endParaRPr lang="en-US" sz="1000">
              <a:solidFill>
                <a:srgbClr val="6B7280"/>
              </a:solidFill>
              <a:latin typeface="DM Sans"/>
            </a:endParaRPr>
          </a:p>
        </p:txBody>
      </p:sp>
    </p:spTree>
    <p:extLst>
      <p:ext uri="{BB962C8B-B14F-4D97-AF65-F5344CB8AC3E}">
        <p14:creationId xmlns:p14="http://schemas.microsoft.com/office/powerpoint/2010/main" val="21460400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228600"/>
          </a:xfrm>
          <a:prstGeom prst="rect">
            <a:avLst/>
          </a:prstGeom>
          <a:solidFill>
            <a:srgbClr val="0B3B2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533400" y="355600"/>
            <a:ext cx="7620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200" b="1" smtClean="0">
                <a:solidFill>
                  <a:srgbClr val="145D37"/>
                </a:solidFill>
                <a:latin typeface="DM Sans"/>
              </a:rPr>
              <a:t>PAYMENT FLOW</a:t>
            </a:r>
            <a:endParaRPr lang="en-US" sz="1200" b="1">
              <a:solidFill>
                <a:srgbClr val="145D37"/>
              </a:solidFill>
              <a:latin typeface="DM San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33400" y="660400"/>
            <a:ext cx="10668000" cy="3847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500" b="1" smtClean="0">
                <a:solidFill>
                  <a:srgbClr val="1F2937"/>
                </a:solidFill>
                <a:latin typeface="DM Serif Display"/>
              </a:rPr>
              <a:t>From checkout to payment confirmation</a:t>
            </a:r>
            <a:endParaRPr lang="en-US" sz="2500" b="1">
              <a:solidFill>
                <a:srgbClr val="1F2937"/>
              </a:solidFill>
              <a:latin typeface="DM Serif Display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482600" y="2032000"/>
            <a:ext cx="1968500" cy="139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E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609600" y="2159000"/>
            <a:ext cx="381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b="1" smtClean="0">
                <a:solidFill>
                  <a:srgbClr val="145D37"/>
                </a:solidFill>
                <a:latin typeface="DM Serif Display"/>
              </a:rPr>
              <a:t>1</a:t>
            </a:r>
            <a:endParaRPr lang="en-US" b="1">
              <a:solidFill>
                <a:srgbClr val="145D37"/>
              </a:solidFill>
              <a:latin typeface="DM Serif Display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16000" y="2159000"/>
            <a:ext cx="13081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600" b="1" smtClean="0">
                <a:solidFill>
                  <a:srgbClr val="1F2937"/>
                </a:solidFill>
                <a:latin typeface="DM Sans"/>
              </a:rPr>
              <a:t>Browse</a:t>
            </a:r>
            <a:endParaRPr lang="en-US" sz="1600" b="1">
              <a:solidFill>
                <a:srgbClr val="1F2937"/>
              </a:solidFill>
              <a:latin typeface="DM San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09600" y="2514600"/>
            <a:ext cx="1714500" cy="60016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300" smtClean="0">
                <a:solidFill>
                  <a:srgbClr val="6B7280"/>
                </a:solidFill>
                <a:latin typeface="DM Sans"/>
              </a:rPr>
              <a:t>Buyer reviews listing detail and selects crop to source.</a:t>
            </a:r>
            <a:endParaRPr lang="en-US" sz="1300">
              <a:solidFill>
                <a:srgbClr val="6B7280"/>
              </a:solidFill>
              <a:latin typeface="DM San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2692400" y="2032000"/>
            <a:ext cx="1968500" cy="139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E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2819400" y="2159000"/>
            <a:ext cx="381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b="1" smtClean="0">
                <a:solidFill>
                  <a:srgbClr val="145D37"/>
                </a:solidFill>
                <a:latin typeface="DM Serif Display"/>
              </a:rPr>
              <a:t>2</a:t>
            </a:r>
            <a:endParaRPr lang="en-US" b="1">
              <a:solidFill>
                <a:srgbClr val="145D37"/>
              </a:solidFill>
              <a:latin typeface="DM Serif Display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225800" y="2159000"/>
            <a:ext cx="13081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600" b="1" smtClean="0">
                <a:solidFill>
                  <a:srgbClr val="1F2937"/>
                </a:solidFill>
                <a:latin typeface="DM Sans"/>
              </a:rPr>
              <a:t>Checkout</a:t>
            </a:r>
            <a:endParaRPr lang="en-US" sz="1600" b="1">
              <a:solidFill>
                <a:srgbClr val="1F2937"/>
              </a:solidFill>
              <a:latin typeface="DM San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819400" y="2514600"/>
            <a:ext cx="1714500" cy="80021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300" smtClean="0">
                <a:solidFill>
                  <a:srgbClr val="6B7280"/>
                </a:solidFill>
                <a:latin typeface="DM Sans"/>
              </a:rPr>
              <a:t>Quantity, address, notes, and channel preference are entered.</a:t>
            </a:r>
            <a:endParaRPr lang="en-US" sz="1300">
              <a:solidFill>
                <a:srgbClr val="6B7280"/>
              </a:solidFill>
              <a:latin typeface="DM Sans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4902200" y="2032000"/>
            <a:ext cx="1968500" cy="139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E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5029200" y="2159000"/>
            <a:ext cx="381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b="1" smtClean="0">
                <a:solidFill>
                  <a:srgbClr val="145D37"/>
                </a:solidFill>
                <a:latin typeface="DM Serif Display"/>
              </a:rPr>
              <a:t>3</a:t>
            </a:r>
            <a:endParaRPr lang="en-US" b="1">
              <a:solidFill>
                <a:srgbClr val="145D37"/>
              </a:solidFill>
              <a:latin typeface="DM Serif Display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435600" y="2159000"/>
            <a:ext cx="13081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600" b="1" smtClean="0">
                <a:solidFill>
                  <a:srgbClr val="1F2937"/>
                </a:solidFill>
                <a:latin typeface="DM Sans"/>
              </a:rPr>
              <a:t>Create Order</a:t>
            </a:r>
            <a:endParaRPr lang="en-US" sz="1600" b="1">
              <a:solidFill>
                <a:srgbClr val="1F2937"/>
              </a:solidFill>
              <a:latin typeface="DM San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029200" y="2514600"/>
            <a:ext cx="1714500" cy="4001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300" smtClean="0">
                <a:solidFill>
                  <a:srgbClr val="6B7280"/>
                </a:solidFill>
                <a:latin typeface="DM Sans"/>
              </a:rPr>
              <a:t>Backend creates order and payment intent.</a:t>
            </a:r>
            <a:endParaRPr lang="en-US" sz="1300">
              <a:solidFill>
                <a:srgbClr val="6B7280"/>
              </a:solidFill>
              <a:latin typeface="DM Sans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7112000" y="2032000"/>
            <a:ext cx="1968500" cy="139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E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/>
          <p:cNvSpPr txBox="1"/>
          <p:nvPr/>
        </p:nvSpPr>
        <p:spPr>
          <a:xfrm>
            <a:off x="7239000" y="2159000"/>
            <a:ext cx="381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b="1" smtClean="0">
                <a:solidFill>
                  <a:srgbClr val="145D37"/>
                </a:solidFill>
                <a:latin typeface="DM Serif Display"/>
              </a:rPr>
              <a:t>4</a:t>
            </a:r>
            <a:endParaRPr lang="en-US" b="1">
              <a:solidFill>
                <a:srgbClr val="145D37"/>
              </a:solidFill>
              <a:latin typeface="DM Serif Display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7645400" y="2159000"/>
            <a:ext cx="13081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600" b="1" smtClean="0">
                <a:solidFill>
                  <a:srgbClr val="1F2937"/>
                </a:solidFill>
                <a:latin typeface="DM Sans"/>
              </a:rPr>
              <a:t>Hosted Pay</a:t>
            </a:r>
            <a:endParaRPr lang="en-US" sz="1600" b="1">
              <a:solidFill>
                <a:srgbClr val="1F2937"/>
              </a:solidFill>
              <a:latin typeface="DM Sans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239000" y="2514600"/>
            <a:ext cx="1714500" cy="80021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300" smtClean="0">
                <a:solidFill>
                  <a:srgbClr val="6B7280"/>
                </a:solidFill>
                <a:latin typeface="DM Sans"/>
              </a:rPr>
              <a:t>Buyer is redirected to Fapshi for MoMo or Orange Money payment.</a:t>
            </a:r>
            <a:endParaRPr lang="en-US" sz="1300">
              <a:solidFill>
                <a:srgbClr val="6B7280"/>
              </a:solidFill>
              <a:latin typeface="DM Sans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9321800" y="2032000"/>
            <a:ext cx="1968500" cy="139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E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/>
          <p:cNvSpPr txBox="1"/>
          <p:nvPr/>
        </p:nvSpPr>
        <p:spPr>
          <a:xfrm>
            <a:off x="9448800" y="2159000"/>
            <a:ext cx="381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b="1" smtClean="0">
                <a:solidFill>
                  <a:srgbClr val="145D37"/>
                </a:solidFill>
                <a:latin typeface="DM Serif Display"/>
              </a:rPr>
              <a:t>5</a:t>
            </a:r>
            <a:endParaRPr lang="en-US" b="1">
              <a:solidFill>
                <a:srgbClr val="145D37"/>
              </a:solidFill>
              <a:latin typeface="DM Serif Display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9855200" y="2159000"/>
            <a:ext cx="13081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600" b="1" smtClean="0">
                <a:solidFill>
                  <a:srgbClr val="1F2937"/>
                </a:solidFill>
                <a:latin typeface="DM Sans"/>
              </a:rPr>
              <a:t>Webhook</a:t>
            </a:r>
            <a:endParaRPr lang="en-US" sz="1600" b="1">
              <a:solidFill>
                <a:srgbClr val="1F2937"/>
              </a:solidFill>
              <a:latin typeface="DM Sans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9448800" y="2514600"/>
            <a:ext cx="1714500" cy="60016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300" smtClean="0">
                <a:solidFill>
                  <a:srgbClr val="6B7280"/>
                </a:solidFill>
                <a:latin typeface="DM Sans"/>
              </a:rPr>
              <a:t>Fapshi confirms payment status back to AgriculNet.</a:t>
            </a:r>
            <a:endParaRPr lang="en-US" sz="1300">
              <a:solidFill>
                <a:srgbClr val="6B7280"/>
              </a:solidFill>
              <a:latin typeface="DM Sans"/>
            </a:endParaRPr>
          </a:p>
        </p:txBody>
      </p:sp>
      <p:cxnSp>
        <p:nvCxnSpPr>
          <p:cNvPr id="25" name="Straight Connector 24"/>
          <p:cNvCxnSpPr/>
          <p:nvPr/>
        </p:nvCxnSpPr>
        <p:spPr>
          <a:xfrm>
            <a:off x="2451100" y="2730500"/>
            <a:ext cx="241300" cy="0"/>
          </a:xfrm>
          <a:prstGeom prst="line">
            <a:avLst/>
          </a:prstGeom>
          <a:ln w="19050">
            <a:solidFill>
              <a:srgbClr val="145D37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/>
          <p:cNvCxnSpPr/>
          <p:nvPr/>
        </p:nvCxnSpPr>
        <p:spPr>
          <a:xfrm>
            <a:off x="4660900" y="2730500"/>
            <a:ext cx="241300" cy="0"/>
          </a:xfrm>
          <a:prstGeom prst="line">
            <a:avLst/>
          </a:prstGeom>
          <a:ln w="19050">
            <a:solidFill>
              <a:srgbClr val="145D37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/>
          <p:cNvCxnSpPr/>
          <p:nvPr/>
        </p:nvCxnSpPr>
        <p:spPr>
          <a:xfrm>
            <a:off x="6870700" y="2730500"/>
            <a:ext cx="241300" cy="0"/>
          </a:xfrm>
          <a:prstGeom prst="line">
            <a:avLst/>
          </a:prstGeom>
          <a:ln w="19050">
            <a:solidFill>
              <a:srgbClr val="145D37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/>
          <p:cNvCxnSpPr/>
          <p:nvPr/>
        </p:nvCxnSpPr>
        <p:spPr>
          <a:xfrm>
            <a:off x="9080500" y="2730500"/>
            <a:ext cx="241300" cy="0"/>
          </a:xfrm>
          <a:prstGeom prst="line">
            <a:avLst/>
          </a:prstGeom>
          <a:ln w="19050">
            <a:solidFill>
              <a:srgbClr val="145D37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533400" y="4064000"/>
            <a:ext cx="5181600" cy="1397000"/>
          </a:xfrm>
          <a:prstGeom prst="rect">
            <a:avLst/>
          </a:prstGeom>
          <a:solidFill>
            <a:srgbClr val="ECF6F0"/>
          </a:solidFill>
          <a:ln w="12700">
            <a:solidFill>
              <a:srgbClr val="145D3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TextBox 29"/>
          <p:cNvSpPr txBox="1"/>
          <p:nvPr/>
        </p:nvSpPr>
        <p:spPr>
          <a:xfrm>
            <a:off x="711200" y="4216400"/>
            <a:ext cx="4826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b="1" smtClean="0">
                <a:solidFill>
                  <a:srgbClr val="1F2937"/>
                </a:solidFill>
                <a:latin typeface="DM Sans"/>
              </a:rPr>
              <a:t>Business meaning</a:t>
            </a:r>
            <a:endParaRPr lang="en-US" b="1">
              <a:solidFill>
                <a:srgbClr val="1F2937"/>
              </a:solidFill>
              <a:latin typeface="DM Sans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711200" y="4597400"/>
            <a:ext cx="4826000" cy="64633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400" smtClean="0">
                <a:solidFill>
                  <a:srgbClr val="6B7280"/>
                </a:solidFill>
                <a:latin typeface="DM Sans"/>
              </a:rPr>
              <a:t>Payment is initiated by buyers only. Farmers and resellers remain sellers and do not use buyer checkout surfaces. Admin controls later payout/release oversight.</a:t>
            </a:r>
            <a:endParaRPr lang="en-US" sz="1400">
              <a:solidFill>
                <a:srgbClr val="6B7280"/>
              </a:solidFill>
              <a:latin typeface="DM Sans"/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6223000" y="4064000"/>
            <a:ext cx="5054600" cy="1397000"/>
          </a:xfrm>
          <a:prstGeom prst="rect">
            <a:avLst/>
          </a:prstGeom>
          <a:solidFill>
            <a:srgbClr val="FAF1CF"/>
          </a:solidFill>
          <a:ln w="12700">
            <a:solidFill>
              <a:srgbClr val="D6AB2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TextBox 32"/>
          <p:cNvSpPr txBox="1"/>
          <p:nvPr/>
        </p:nvSpPr>
        <p:spPr>
          <a:xfrm>
            <a:off x="6400800" y="4216400"/>
            <a:ext cx="4699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b="1" smtClean="0">
                <a:solidFill>
                  <a:srgbClr val="1F2937"/>
                </a:solidFill>
                <a:latin typeface="DM Sans"/>
              </a:rPr>
              <a:t>Near-term direction</a:t>
            </a:r>
            <a:endParaRPr lang="en-US" b="1">
              <a:solidFill>
                <a:srgbClr val="1F2937"/>
              </a:solidFill>
              <a:latin typeface="DM Sans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6400800" y="4597400"/>
            <a:ext cx="4699000" cy="64633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400" smtClean="0">
                <a:solidFill>
                  <a:srgbClr val="6B7280"/>
                </a:solidFill>
                <a:latin typeface="DM Sans"/>
              </a:rPr>
              <a:t>The current integration direction uses hosted checkout, transaction tracking, and webhook confirmation rather than direct card-wallet capture inside the frontend.</a:t>
            </a:r>
            <a:endParaRPr lang="en-US" sz="1400">
              <a:solidFill>
                <a:srgbClr val="6B7280"/>
              </a:solidFill>
              <a:latin typeface="DM Sans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533400" y="6502400"/>
            <a:ext cx="8890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00" smtClean="0">
                <a:solidFill>
                  <a:srgbClr val="6B7280"/>
                </a:solidFill>
                <a:latin typeface="DM Sans"/>
              </a:rPr>
              <a:t>AgriculNet | Academic Presentation | 2026</a:t>
            </a:r>
            <a:endParaRPr lang="en-US" sz="900">
              <a:solidFill>
                <a:srgbClr val="6B7280"/>
              </a:solidFill>
              <a:latin typeface="DM Sans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11303000" y="6477000"/>
            <a:ext cx="381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sz="1000" smtClean="0">
                <a:solidFill>
                  <a:srgbClr val="6B7280"/>
                </a:solidFill>
                <a:latin typeface="DM Sans"/>
              </a:rPr>
              <a:t>11</a:t>
            </a:r>
            <a:endParaRPr lang="en-US" sz="1000">
              <a:solidFill>
                <a:srgbClr val="6B7280"/>
              </a:solidFill>
              <a:latin typeface="DM Sans"/>
            </a:endParaRPr>
          </a:p>
        </p:txBody>
      </p:sp>
    </p:spTree>
    <p:extLst>
      <p:ext uri="{BB962C8B-B14F-4D97-AF65-F5344CB8AC3E}">
        <p14:creationId xmlns:p14="http://schemas.microsoft.com/office/powerpoint/2010/main" val="28619092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228600"/>
          </a:xfrm>
          <a:prstGeom prst="rect">
            <a:avLst/>
          </a:prstGeom>
          <a:solidFill>
            <a:srgbClr val="0B3B2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533400" y="355600"/>
            <a:ext cx="7620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200" b="1" smtClean="0">
                <a:solidFill>
                  <a:srgbClr val="145D37"/>
                </a:solidFill>
                <a:latin typeface="DM Sans"/>
              </a:rPr>
              <a:t>DEPLOYMENT</a:t>
            </a:r>
            <a:endParaRPr lang="en-US" sz="1200" b="1">
              <a:solidFill>
                <a:srgbClr val="145D37"/>
              </a:solidFill>
              <a:latin typeface="DM San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33400" y="660400"/>
            <a:ext cx="10668000" cy="3847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500" b="1" smtClean="0">
                <a:solidFill>
                  <a:srgbClr val="1F2937"/>
                </a:solidFill>
                <a:latin typeface="DM Serif Display"/>
              </a:rPr>
              <a:t>How the system is hosted and delivered</a:t>
            </a:r>
            <a:endParaRPr lang="en-US" sz="2500" b="1">
              <a:solidFill>
                <a:srgbClr val="1F2937"/>
              </a:solidFill>
              <a:latin typeface="DM Serif Display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33400" y="1549400"/>
            <a:ext cx="3238500" cy="1549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E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711200" y="1701800"/>
            <a:ext cx="28829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b="1" smtClean="0">
                <a:solidFill>
                  <a:srgbClr val="1F2937"/>
                </a:solidFill>
                <a:latin typeface="DM Sans"/>
              </a:rPr>
              <a:t>Frontend</a:t>
            </a:r>
            <a:endParaRPr lang="en-US" b="1">
              <a:solidFill>
                <a:srgbClr val="1F2937"/>
              </a:solidFill>
              <a:latin typeface="DM San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11200" y="2082800"/>
            <a:ext cx="2882900" cy="64633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400" smtClean="0">
                <a:solidFill>
                  <a:srgbClr val="6B7280"/>
                </a:solidFill>
                <a:latin typeface="DM Sans"/>
              </a:rPr>
              <a:t>Hosted on Vercel under the AgriculNet web domain, serving public pages and dashboard routes.</a:t>
            </a:r>
            <a:endParaRPr lang="en-US" sz="1400">
              <a:solidFill>
                <a:srgbClr val="6B7280"/>
              </a:solidFill>
              <a:latin typeface="DM San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470400" y="1549400"/>
            <a:ext cx="3238500" cy="1549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E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4648200" y="1701800"/>
            <a:ext cx="28829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b="1" smtClean="0">
                <a:solidFill>
                  <a:srgbClr val="1F2937"/>
                </a:solidFill>
                <a:latin typeface="DM Sans"/>
              </a:rPr>
              <a:t>Backend</a:t>
            </a:r>
            <a:endParaRPr lang="en-US" b="1">
              <a:solidFill>
                <a:srgbClr val="1F2937"/>
              </a:solidFill>
              <a:latin typeface="DM San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648200" y="2082800"/>
            <a:ext cx="2882900" cy="86177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400" smtClean="0">
                <a:solidFill>
                  <a:srgbClr val="6B7280"/>
                </a:solidFill>
                <a:latin typeface="DM Sans"/>
              </a:rPr>
              <a:t>Hosted on Railway with environment-based configuration for API routing, auth, email, SMS, and payment services.</a:t>
            </a:r>
            <a:endParaRPr lang="en-US" sz="1400">
              <a:solidFill>
                <a:srgbClr val="6B7280"/>
              </a:solidFill>
              <a:latin typeface="DM Sans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8407400" y="1549400"/>
            <a:ext cx="3238500" cy="1549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E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585200" y="1701800"/>
            <a:ext cx="28829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b="1" smtClean="0">
                <a:solidFill>
                  <a:srgbClr val="1F2937"/>
                </a:solidFill>
                <a:latin typeface="DM Sans"/>
              </a:rPr>
              <a:t>Data Layer</a:t>
            </a:r>
            <a:endParaRPr lang="en-US" b="1">
              <a:solidFill>
                <a:srgbClr val="1F2937"/>
              </a:solidFill>
              <a:latin typeface="DM San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585200" y="2082800"/>
            <a:ext cx="2882900" cy="64633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400" smtClean="0">
                <a:solidFill>
                  <a:srgbClr val="6B7280"/>
                </a:solidFill>
                <a:latin typeface="DM Sans"/>
              </a:rPr>
              <a:t>Supabase provides database persistence and storage for platform records and assets.</a:t>
            </a:r>
            <a:endParaRPr lang="en-US" sz="1400">
              <a:solidFill>
                <a:srgbClr val="6B7280"/>
              </a:solidFill>
              <a:latin typeface="DM San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36600" y="3632200"/>
            <a:ext cx="10744200" cy="104644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1700" smtClean="0">
                <a:solidFill>
                  <a:srgbClr val="1F2937"/>
                </a:solidFill>
                <a:latin typeface="DM Sans"/>
              </a:rPr>
              <a:t>â€¢ Vercel frontend calls the Railway API through configured environment variables</a:t>
            </a:r>
          </a:p>
          <a:p>
            <a:r>
              <a:rPr lang="en-US" sz="1700" smtClean="0">
                <a:solidFill>
                  <a:srgbClr val="1F2937"/>
                </a:solidFill>
                <a:latin typeface="DM Sans"/>
              </a:rPr>
              <a:t>â€¢ Railway handles protected backend routes and webhook endpoints</a:t>
            </a:r>
          </a:p>
          <a:p>
            <a:r>
              <a:rPr lang="en-US" sz="1700" smtClean="0">
                <a:solidFill>
                  <a:srgbClr val="1F2937"/>
                </a:solidFill>
                <a:latin typeface="DM Sans"/>
              </a:rPr>
              <a:t>â€¢ Supabase stores marketplace data, profiles, listings, orders, and asset references</a:t>
            </a:r>
          </a:p>
          <a:p>
            <a:r>
              <a:rPr lang="en-US" sz="1700" smtClean="0">
                <a:solidFill>
                  <a:srgbClr val="1F2937"/>
                </a:solidFill>
                <a:latin typeface="DM Sans"/>
              </a:rPr>
              <a:t>â€¢ This split improves delivery speed while keeping database and file workflows centralized</a:t>
            </a:r>
            <a:endParaRPr lang="en-US" sz="1700">
              <a:solidFill>
                <a:srgbClr val="1F2937"/>
              </a:solidFill>
              <a:latin typeface="DM San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33400" y="6502400"/>
            <a:ext cx="8890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00" smtClean="0">
                <a:solidFill>
                  <a:srgbClr val="6B7280"/>
                </a:solidFill>
                <a:latin typeface="DM Sans"/>
              </a:rPr>
              <a:t>AgriculNet | Academic Presentation | 2026</a:t>
            </a:r>
            <a:endParaRPr lang="en-US" sz="900">
              <a:solidFill>
                <a:srgbClr val="6B7280"/>
              </a:solidFill>
              <a:latin typeface="DM San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1303000" y="6477000"/>
            <a:ext cx="381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sz="1000" smtClean="0">
                <a:solidFill>
                  <a:srgbClr val="6B7280"/>
                </a:solidFill>
                <a:latin typeface="DM Sans"/>
              </a:rPr>
              <a:t>12</a:t>
            </a:r>
            <a:endParaRPr lang="en-US" sz="1000">
              <a:solidFill>
                <a:srgbClr val="6B7280"/>
              </a:solidFill>
              <a:latin typeface="DM Sans"/>
            </a:endParaRPr>
          </a:p>
        </p:txBody>
      </p:sp>
    </p:spTree>
    <p:extLst>
      <p:ext uri="{BB962C8B-B14F-4D97-AF65-F5344CB8AC3E}">
        <p14:creationId xmlns:p14="http://schemas.microsoft.com/office/powerpoint/2010/main" val="21066847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228600"/>
          </a:xfrm>
          <a:prstGeom prst="rect">
            <a:avLst/>
          </a:prstGeom>
          <a:solidFill>
            <a:srgbClr val="0B3B2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533400" y="355600"/>
            <a:ext cx="7620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200" b="1" smtClean="0">
                <a:solidFill>
                  <a:srgbClr val="145D37"/>
                </a:solidFill>
                <a:latin typeface="DM Sans"/>
              </a:rPr>
              <a:t>CHALLENGES AND LIMITATIONS</a:t>
            </a:r>
            <a:endParaRPr lang="en-US" sz="1200" b="1">
              <a:solidFill>
                <a:srgbClr val="145D37"/>
              </a:solidFill>
              <a:latin typeface="DM San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33400" y="660400"/>
            <a:ext cx="10668000" cy="3847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500" b="1" smtClean="0">
                <a:solidFill>
                  <a:srgbClr val="1F2937"/>
                </a:solidFill>
                <a:latin typeface="DM Serif Display"/>
              </a:rPr>
              <a:t>What was solved and what still needs refinement</a:t>
            </a:r>
            <a:endParaRPr lang="en-US" sz="2500" b="1">
              <a:solidFill>
                <a:srgbClr val="1F2937"/>
              </a:solidFill>
              <a:latin typeface="DM Serif Display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33400" y="1549400"/>
            <a:ext cx="5207000" cy="1905000"/>
          </a:xfrm>
          <a:prstGeom prst="rect">
            <a:avLst/>
          </a:prstGeom>
          <a:solidFill>
            <a:srgbClr val="ECF6F0"/>
          </a:solidFill>
          <a:ln w="12700">
            <a:solidFill>
              <a:srgbClr val="145D3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711200" y="1701800"/>
            <a:ext cx="4851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b="1" smtClean="0">
                <a:solidFill>
                  <a:srgbClr val="1F2937"/>
                </a:solidFill>
                <a:latin typeface="DM Sans"/>
              </a:rPr>
              <a:t>Challenges solved</a:t>
            </a:r>
            <a:endParaRPr lang="en-US" b="1">
              <a:solidFill>
                <a:srgbClr val="1F2937"/>
              </a:solidFill>
              <a:latin typeface="DM San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11200" y="2082800"/>
            <a:ext cx="4851400" cy="86177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400" smtClean="0">
                <a:solidFill>
                  <a:srgbClr val="6B7280"/>
                </a:solidFill>
                <a:latin typeface="DM Sans"/>
              </a:rPr>
              <a:t>Frontend-to-backend integration is now live, domain routing is configured, buyer/public experiences are much stronger, and the platform reflects real roles and workflows rather than static demo-only pages.</a:t>
            </a:r>
            <a:endParaRPr lang="en-US" sz="1400">
              <a:solidFill>
                <a:srgbClr val="6B7280"/>
              </a:solidFill>
              <a:latin typeface="DM San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223000" y="1651000"/>
            <a:ext cx="4826000" cy="156966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1700" smtClean="0">
                <a:solidFill>
                  <a:srgbClr val="1F2937"/>
                </a:solidFill>
                <a:latin typeface="DM Sans"/>
              </a:rPr>
              <a:t>â€¢ Authentication and dashboard routing alignment</a:t>
            </a:r>
          </a:p>
          <a:p>
            <a:r>
              <a:rPr lang="en-US" sz="1700" smtClean="0">
                <a:solidFill>
                  <a:srgbClr val="1F2937"/>
                </a:solidFill>
                <a:latin typeface="DM Sans"/>
              </a:rPr>
              <a:t>â€¢ Hosted frontend/backend deployment path</a:t>
            </a:r>
          </a:p>
          <a:p>
            <a:r>
              <a:rPr lang="en-US" sz="1700" smtClean="0">
                <a:solidFill>
                  <a:srgbClr val="1F2937"/>
                </a:solidFill>
                <a:latin typeface="DM Sans"/>
              </a:rPr>
              <a:t>â€¢ Role-aware marketplace and admin separation</a:t>
            </a:r>
          </a:p>
          <a:p>
            <a:r>
              <a:rPr lang="en-US" sz="1700" smtClean="0">
                <a:solidFill>
                  <a:srgbClr val="1F2937"/>
                </a:solidFill>
                <a:latin typeface="DM Sans"/>
              </a:rPr>
              <a:t>â€¢ Preparation for real mobile-money integration</a:t>
            </a:r>
            <a:endParaRPr lang="en-US" sz="1700">
              <a:solidFill>
                <a:srgbClr val="1F2937"/>
              </a:solidFill>
              <a:latin typeface="DM San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33400" y="3810000"/>
            <a:ext cx="10744200" cy="1524000"/>
          </a:xfrm>
          <a:prstGeom prst="rect">
            <a:avLst/>
          </a:prstGeom>
          <a:solidFill>
            <a:srgbClr val="FDF2F2"/>
          </a:solidFill>
          <a:ln w="12700">
            <a:solidFill>
              <a:srgbClr val="EF444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711200" y="3962400"/>
            <a:ext cx="10388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b="1" smtClean="0">
                <a:solidFill>
                  <a:srgbClr val="1F2937"/>
                </a:solidFill>
                <a:latin typeface="DM Sans"/>
              </a:rPr>
              <a:t>Current limitations</a:t>
            </a:r>
            <a:endParaRPr lang="en-US" b="1">
              <a:solidFill>
                <a:srgbClr val="1F2937"/>
              </a:solidFill>
              <a:latin typeface="DM San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11200" y="4343400"/>
            <a:ext cx="103886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400" smtClean="0">
                <a:solidFill>
                  <a:srgbClr val="6B7280"/>
                </a:solidFill>
                <a:latin typeface="DM Sans"/>
              </a:rPr>
              <a:t>Some provider credentials and live payment-account details still need to be finalized. Some operational areas remain iterative, including deeper analytics, broader CMS-driven content, and production-hardening around provider integrations.</a:t>
            </a:r>
            <a:endParaRPr lang="en-US" sz="1400">
              <a:solidFill>
                <a:srgbClr val="6B7280"/>
              </a:solidFill>
              <a:latin typeface="DM San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33400" y="6502400"/>
            <a:ext cx="8890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00" smtClean="0">
                <a:solidFill>
                  <a:srgbClr val="6B7280"/>
                </a:solidFill>
                <a:latin typeface="DM Sans"/>
              </a:rPr>
              <a:t>AgriculNet | Academic Presentation | 2026</a:t>
            </a:r>
            <a:endParaRPr lang="en-US" sz="900">
              <a:solidFill>
                <a:srgbClr val="6B7280"/>
              </a:solidFill>
              <a:latin typeface="DM San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1303000" y="6477000"/>
            <a:ext cx="381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sz="1000" smtClean="0">
                <a:solidFill>
                  <a:srgbClr val="6B7280"/>
                </a:solidFill>
                <a:latin typeface="DM Sans"/>
              </a:rPr>
              <a:t>13</a:t>
            </a:r>
            <a:endParaRPr lang="en-US" sz="1000">
              <a:solidFill>
                <a:srgbClr val="6B7280"/>
              </a:solidFill>
              <a:latin typeface="DM Sans"/>
            </a:endParaRPr>
          </a:p>
        </p:txBody>
      </p:sp>
    </p:spTree>
    <p:extLst>
      <p:ext uri="{BB962C8B-B14F-4D97-AF65-F5344CB8AC3E}">
        <p14:creationId xmlns:p14="http://schemas.microsoft.com/office/powerpoint/2010/main" val="356702253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228600"/>
          </a:xfrm>
          <a:prstGeom prst="rect">
            <a:avLst/>
          </a:prstGeom>
          <a:solidFill>
            <a:srgbClr val="0B3B2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0" y="228600"/>
            <a:ext cx="12192000" cy="6629400"/>
          </a:xfrm>
          <a:prstGeom prst="rect">
            <a:avLst/>
          </a:prstGeom>
          <a:solidFill>
            <a:srgbClr val="0B3B2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762000" y="1041400"/>
            <a:ext cx="78740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400" b="1" smtClean="0">
                <a:solidFill>
                  <a:srgbClr val="D6AB27"/>
                </a:solidFill>
                <a:latin typeface="DM Sans"/>
              </a:rPr>
              <a:t>Conclusion and Demo Cue</a:t>
            </a:r>
            <a:endParaRPr lang="en-US" sz="1400" b="1">
              <a:solidFill>
                <a:srgbClr val="D6AB27"/>
              </a:solidFill>
              <a:latin typeface="DM San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62000" y="1574800"/>
            <a:ext cx="7874000" cy="138499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3000" b="1" smtClean="0">
                <a:solidFill>
                  <a:srgbClr val="FFFFFF"/>
                </a:solidFill>
                <a:latin typeface="DM Serif Display"/>
              </a:rPr>
              <a:t>AgriculNet shows how software can structure agricultural trade around trust, visibility, and operational control.</a:t>
            </a:r>
            <a:endParaRPr lang="en-US" sz="3000" b="1">
              <a:solidFill>
                <a:srgbClr val="FFFFFF"/>
              </a:solidFill>
              <a:latin typeface="DM Serif Display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62000" y="2895600"/>
            <a:ext cx="5969000" cy="147732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1600" smtClean="0">
                <a:solidFill>
                  <a:srgbClr val="FFFFFF"/>
                </a:solidFill>
                <a:latin typeface="DM Sans"/>
              </a:rPr>
              <a:t>â€¢ The platform is designed around real user roles and real trade workflows</a:t>
            </a:r>
          </a:p>
          <a:p>
            <a:r>
              <a:rPr lang="en-US" sz="1600" smtClean="0">
                <a:solidFill>
                  <a:srgbClr val="FFFFFF"/>
                </a:solidFill>
                <a:latin typeface="DM Sans"/>
              </a:rPr>
              <a:t>â€¢ It combines marketplace access, verification, communication, and protected operations</a:t>
            </a:r>
          </a:p>
          <a:p>
            <a:r>
              <a:rPr lang="en-US" sz="1600" smtClean="0">
                <a:solidFill>
                  <a:srgbClr val="FFFFFF"/>
                </a:solidFill>
                <a:latin typeface="DM Sans"/>
              </a:rPr>
              <a:t>â€¢ It is relevant to Cameroonâ€™s current agricultural and export context</a:t>
            </a:r>
            <a:endParaRPr lang="en-US" sz="1600">
              <a:solidFill>
                <a:srgbClr val="FFFFFF"/>
              </a:solidFill>
              <a:latin typeface="DM San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7366000" y="2667000"/>
            <a:ext cx="3556000" cy="1905000"/>
          </a:xfrm>
          <a:prstGeom prst="rect">
            <a:avLst/>
          </a:prstGeom>
          <a:solidFill>
            <a:srgbClr val="FAF1CF"/>
          </a:solidFill>
          <a:ln w="12700">
            <a:solidFill>
              <a:srgbClr val="D6AB2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7543800" y="2819400"/>
            <a:ext cx="3200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b="1" smtClean="0">
                <a:solidFill>
                  <a:srgbClr val="1F2937"/>
                </a:solidFill>
                <a:latin typeface="DM Sans"/>
              </a:rPr>
              <a:t>Live demo cue</a:t>
            </a:r>
            <a:endParaRPr lang="en-US" b="1">
              <a:solidFill>
                <a:srgbClr val="1F2937"/>
              </a:solidFill>
              <a:latin typeface="DM San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543800" y="3200400"/>
            <a:ext cx="3200400" cy="107721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400" smtClean="0">
                <a:solidFill>
                  <a:srgbClr val="6B7280"/>
                </a:solidFill>
                <a:latin typeface="DM Sans"/>
              </a:rPr>
              <a:t>Recommended walkthrough: home page -&gt; browse -&gt; crop detail -&gt; buyer dashboard -&gt; support/messages/settings -&gt; admin overview.</a:t>
            </a:r>
            <a:endParaRPr lang="en-US" sz="1400">
              <a:solidFill>
                <a:srgbClr val="6B7280"/>
              </a:solidFill>
              <a:latin typeface="DM San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62000" y="5511800"/>
            <a:ext cx="53340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800" b="1" smtClean="0">
                <a:solidFill>
                  <a:srgbClr val="FFFFFF"/>
                </a:solidFill>
                <a:latin typeface="DM Serif Display"/>
              </a:rPr>
              <a:t>Thank you</a:t>
            </a:r>
            <a:endParaRPr lang="en-US" sz="2800" b="1">
              <a:solidFill>
                <a:srgbClr val="FFFFFF"/>
              </a:solidFill>
              <a:latin typeface="DM Serif Display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62000" y="5969000"/>
            <a:ext cx="6604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mtClean="0">
                <a:solidFill>
                  <a:srgbClr val="FFFFFF"/>
                </a:solidFill>
                <a:latin typeface="DM Sans"/>
              </a:rPr>
              <a:t>Questions and discussion</a:t>
            </a:r>
            <a:endParaRPr lang="en-US">
              <a:solidFill>
                <a:srgbClr val="FFFFFF"/>
              </a:solidFill>
              <a:latin typeface="DM Sans"/>
            </a:endParaRPr>
          </a:p>
        </p:txBody>
      </p:sp>
    </p:spTree>
    <p:extLst>
      <p:ext uri="{BB962C8B-B14F-4D97-AF65-F5344CB8AC3E}">
        <p14:creationId xmlns:p14="http://schemas.microsoft.com/office/powerpoint/2010/main" val="42027861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1496</Words>
  <Application>Microsoft Office PowerPoint</Application>
  <PresentationFormat>Custom</PresentationFormat>
  <Paragraphs>186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Arial</vt:lpstr>
      <vt:lpstr>Calibri</vt:lpstr>
      <vt:lpstr>Calibri Light</vt:lpstr>
      <vt:lpstr>DM Sans</vt:lpstr>
      <vt:lpstr>DM Serif Display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PC</dc:creator>
  <cp:lastModifiedBy>PC</cp:lastModifiedBy>
  <cp:revision>1</cp:revision>
  <dcterms:created xsi:type="dcterms:W3CDTF">2026-05-30T09:36:18Z</dcterms:created>
  <dcterms:modified xsi:type="dcterms:W3CDTF">2026-05-30T09:36:18Z</dcterms:modified>
</cp:coreProperties>
</file>